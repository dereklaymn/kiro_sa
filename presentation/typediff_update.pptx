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 are Anay, Ajay and Aarsh. This is a progress update on typediff, our project on differential fuzzing of Python type checkers. We compare ty, mypy and pyright on the same programs and look for disagreements. Over the next few minutes we will cover the problem, why we picked it, our pipeline, and what we expect to deliver.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Python has a typing specification, and mypy, pyright and ty all claim to follow it. In practice they disagree on many programs, and the spec is vague in some places. Some of those disagreements are real bugs, but most are deliberate choices or known issues. Checking them by hand does not scale, so we built a pipeline that runs several checkers plus CPython, filters the known differences automatically, and leaves only the few that are worth reporting.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checkers sit in editors, in CI and increasingly in AI coding loops, so a wrong answer quietly affects a lot of people. ty is a new Rust checker from Astral, the Ruff and uv team, who are now part of OpenAI according to one 2026 guide. Astral reports it is roughly 10 to 60 times faster than mypy and Pyright, so adoption is growing fast. But it is still in beta, and a third-party comparison says it lags on spec coverage. One project, pydantic-ai, saw 337 of 417 diagnostics were false positives. Differential testing fits well because the other checkers and CPython act as oracles, so we need no hand-written expected answers.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pipeline. Inputs are 27 hand-written seeds, about 4,849 harvested programs, and LLM-generated variants. We run mypy, ty and pyright with pinned versions plus real CPython as ground truth, then normalise and compare the outputs. An auto-filter with a knowledge base drops known or intended differences. What remains goes to a review queue grouped by pattern. If it is not a real candidate, we add a knowledge base or harness rule. If it is, the LLM only generates new variants that feed back into the inputs, and we verify against the spec, CPython and the trackers before filing upstream.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expect three things. First, new confirmed bugs in ty and possibly mypy, each with a minimal repro and a spec reference, checked against the trackers so we do not file duplicates. Second, a documented dataset of disagreements, labelled as real bug, intended, known or noise, with evidence. Third, a reusable pipeline that cheaply discards known differences so humans only look at real candidates, with measured funnel numbers. We are not promising a specific number of bugs. So far the pipeline is built, the first corpus has been run, and triage is in progress.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stral.sh/blog/ty" TargetMode="External"/><Relationship Id="rId3" Type="http://schemas.openxmlformats.org/officeDocument/2006/relationships/hyperlink" Target="https://pydevtools.com/handbook/explanation/ty-complete-guide/" TargetMode="External"/><Relationship Id="rId4" Type="http://schemas.openxmlformats.org/officeDocument/2006/relationships/hyperlink" Target="https://github.com/jlevy/simple-modern-uv/blob/main/docs/project/research/research-python-type-checkers.md" TargetMode="External"/><Relationship Id="rId5" Type="http://schemas.openxmlformats.org/officeDocument/2006/relationships/hyperlink" Target="https://github.com/pydantic/pydantic-ai/issues/3970" TargetMode="Externa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0040" cy="685800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554480"/>
            <a:ext cx="9601200" cy="1371600"/>
          </a:xfrm>
          <a:prstGeom prst="rect">
            <a:avLst/>
          </a:prstGeom>
          <a:noFill/>
        </p:spPr>
        <p:txBody>
          <a:bodyPr wrap="square" anchor="b" lIns="45720" rIns="45720">
            <a:spAutoFit/>
          </a:bodyPr>
          <a:lstStyle/>
          <a:p>
            <a:pPr algn="l"/>
            <a:r>
              <a:rPr sz="8000" b="1">
                <a:solidFill>
                  <a:srgbClr val="1B263B"/>
                </a:solidFill>
                <a:latin typeface="Calibri"/>
              </a:rPr>
              <a:t>typediff</a:t>
            </a:r>
          </a:p>
        </p:txBody>
      </p:sp>
      <p:sp>
        <p:nvSpPr>
          <p:cNvPr id="4" name="Rectangle 3"/>
          <p:cNvSpPr/>
          <p:nvPr/>
        </p:nvSpPr>
        <p:spPr>
          <a:xfrm>
            <a:off x="1143000" y="3017520"/>
            <a:ext cx="1280160" cy="64008"/>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3246120"/>
            <a:ext cx="10058400" cy="1005840"/>
          </a:xfrm>
          <a:prstGeom prst="rect">
            <a:avLst/>
          </a:prstGeom>
          <a:noFill/>
        </p:spPr>
        <p:txBody>
          <a:bodyPr wrap="square" anchor="t" lIns="45720" rIns="45720">
            <a:spAutoFit/>
          </a:bodyPr>
          <a:lstStyle/>
          <a:p>
            <a:pPr algn="l"/>
            <a:r>
              <a:rPr sz="2800" b="0">
                <a:solidFill>
                  <a:srgbClr val="1B263B"/>
                </a:solidFill>
                <a:latin typeface="Calibri"/>
              </a:rPr>
              <a:t>Differential fuzzing of Python type checkers (ty vs mypy vs pyright)</a:t>
            </a:r>
          </a:p>
        </p:txBody>
      </p:sp>
      <p:sp>
        <p:nvSpPr>
          <p:cNvPr id="6" name="TextBox 5"/>
          <p:cNvSpPr txBox="1"/>
          <p:nvPr/>
        </p:nvSpPr>
        <p:spPr>
          <a:xfrm>
            <a:off x="1097280" y="4206240"/>
            <a:ext cx="7315200" cy="457200"/>
          </a:xfrm>
          <a:prstGeom prst="rect">
            <a:avLst/>
          </a:prstGeom>
          <a:noFill/>
        </p:spPr>
        <p:txBody>
          <a:bodyPr wrap="square" anchor="t" lIns="45720" rIns="45720">
            <a:spAutoFit/>
          </a:bodyPr>
          <a:lstStyle/>
          <a:p>
            <a:pPr algn="l"/>
            <a:r>
              <a:rPr sz="2000" b="1">
                <a:solidFill>
                  <a:srgbClr val="1F6FB5"/>
                </a:solidFill>
                <a:latin typeface="Calibri"/>
              </a:rPr>
              <a:t>Project progress update</a:t>
            </a:r>
          </a:p>
        </p:txBody>
      </p:sp>
      <p:sp>
        <p:nvSpPr>
          <p:cNvPr id="7" name="Rectangle 6"/>
          <p:cNvSpPr/>
          <p:nvPr/>
        </p:nvSpPr>
        <p:spPr>
          <a:xfrm>
            <a:off x="1143000" y="5257800"/>
            <a:ext cx="36576" cy="548640"/>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0160" y="5257800"/>
            <a:ext cx="2834640" cy="548640"/>
          </a:xfrm>
          <a:prstGeom prst="rect">
            <a:avLst/>
          </a:prstGeom>
          <a:noFill/>
        </p:spPr>
        <p:txBody>
          <a:bodyPr wrap="square" anchor="ctr" lIns="45720" rIns="45720">
            <a:spAutoFit/>
          </a:bodyPr>
          <a:lstStyle/>
          <a:p>
            <a:pPr algn="l"/>
            <a:r>
              <a:rPr sz="2200" b="1">
                <a:solidFill>
                  <a:srgbClr val="1B263B"/>
                </a:solidFill>
                <a:latin typeface="Calibri"/>
              </a:rPr>
              <a:t>Anay Gupta</a:t>
            </a:r>
          </a:p>
        </p:txBody>
      </p:sp>
      <p:sp>
        <p:nvSpPr>
          <p:cNvPr id="9" name="Rectangle 8"/>
          <p:cNvSpPr/>
          <p:nvPr/>
        </p:nvSpPr>
        <p:spPr>
          <a:xfrm>
            <a:off x="4251960" y="5257800"/>
            <a:ext cx="36576" cy="548640"/>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5257800"/>
            <a:ext cx="2834640" cy="548640"/>
          </a:xfrm>
          <a:prstGeom prst="rect">
            <a:avLst/>
          </a:prstGeom>
          <a:noFill/>
        </p:spPr>
        <p:txBody>
          <a:bodyPr wrap="square" anchor="ctr" lIns="45720" rIns="45720">
            <a:spAutoFit/>
          </a:bodyPr>
          <a:lstStyle/>
          <a:p>
            <a:pPr algn="l"/>
            <a:r>
              <a:rPr sz="2200" b="1">
                <a:solidFill>
                  <a:srgbClr val="1B263B"/>
                </a:solidFill>
                <a:latin typeface="Calibri"/>
              </a:rPr>
              <a:t>Ajay Meena</a:t>
            </a:r>
          </a:p>
        </p:txBody>
      </p:sp>
      <p:sp>
        <p:nvSpPr>
          <p:cNvPr id="11" name="Rectangle 10"/>
          <p:cNvSpPr/>
          <p:nvPr/>
        </p:nvSpPr>
        <p:spPr>
          <a:xfrm>
            <a:off x="7360920" y="5257800"/>
            <a:ext cx="36576" cy="548640"/>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0" y="5257800"/>
            <a:ext cx="2834640" cy="548640"/>
          </a:xfrm>
          <a:prstGeom prst="rect">
            <a:avLst/>
          </a:prstGeom>
          <a:noFill/>
        </p:spPr>
        <p:txBody>
          <a:bodyPr wrap="square" anchor="ctr" lIns="45720" rIns="45720">
            <a:spAutoFit/>
          </a:bodyPr>
          <a:lstStyle/>
          <a:p>
            <a:pPr algn="l"/>
            <a:r>
              <a:rPr sz="2200" b="1">
                <a:solidFill>
                  <a:srgbClr val="1B263B"/>
                </a:solidFill>
                <a:latin typeface="Calibri"/>
              </a:rPr>
              <a:t>Aarsh Verma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11535" cy="685800"/>
          </a:xfrm>
          <a:prstGeom prst="rect">
            <a:avLst/>
          </a:prstGeom>
          <a:noFill/>
        </p:spPr>
        <p:txBody>
          <a:bodyPr wrap="square" anchor="ctr" lIns="45720" rIns="45720">
            <a:spAutoFit/>
          </a:bodyPr>
          <a:lstStyle/>
          <a:p>
            <a:pPr algn="l"/>
            <a:r>
              <a:rPr sz="3400" b="1">
                <a:solidFill>
                  <a:srgbClr val="1B263B"/>
                </a:solidFill>
                <a:latin typeface="Calibri"/>
              </a:rPr>
              <a:t>Problem statement</a:t>
            </a:r>
          </a:p>
        </p:txBody>
      </p:sp>
      <p:sp>
        <p:nvSpPr>
          <p:cNvPr id="3" name="Rectangle 2"/>
          <p:cNvSpPr/>
          <p:nvPr/>
        </p:nvSpPr>
        <p:spPr>
          <a:xfrm>
            <a:off x="685800" y="1051560"/>
            <a:ext cx="822960" cy="5486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6400800"/>
            <a:ext cx="10865815" cy="9144"/>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28232"/>
            <a:ext cx="3657600" cy="320040"/>
          </a:xfrm>
          <a:prstGeom prst="rect">
            <a:avLst/>
          </a:prstGeom>
          <a:noFill/>
        </p:spPr>
        <p:txBody>
          <a:bodyPr wrap="square" anchor="t" lIns="45720" rIns="45720">
            <a:spAutoFit/>
          </a:bodyPr>
          <a:lstStyle/>
          <a:p>
            <a:pPr algn="l"/>
            <a:r>
              <a:rPr sz="1200" b="0">
                <a:solidFill>
                  <a:srgbClr val="6B7280"/>
                </a:solidFill>
                <a:latin typeface="Calibri"/>
              </a:rPr>
              <a:t>typediff</a:t>
            </a:r>
          </a:p>
        </p:txBody>
      </p:sp>
      <p:sp>
        <p:nvSpPr>
          <p:cNvPr id="6" name="TextBox 5"/>
          <p:cNvSpPr txBox="1"/>
          <p:nvPr/>
        </p:nvSpPr>
        <p:spPr>
          <a:xfrm>
            <a:off x="10637215" y="6428232"/>
            <a:ext cx="914400" cy="320040"/>
          </a:xfrm>
          <a:prstGeom prst="rect">
            <a:avLst/>
          </a:prstGeom>
          <a:noFill/>
        </p:spPr>
        <p:txBody>
          <a:bodyPr wrap="square" anchor="t" lIns="45720" rIns="45720">
            <a:spAutoFit/>
          </a:bodyPr>
          <a:lstStyle/>
          <a:p>
            <a:pPr algn="r"/>
            <a:r>
              <a:rPr sz="1200" b="0">
                <a:solidFill>
                  <a:srgbClr val="6B7280"/>
                </a:solidFill>
                <a:latin typeface="Calibri"/>
              </a:rPr>
              <a:t>2</a:t>
            </a:r>
          </a:p>
        </p:txBody>
      </p:sp>
      <p:sp>
        <p:nvSpPr>
          <p:cNvPr id="7" name="TextBox 6"/>
          <p:cNvSpPr txBox="1"/>
          <p:nvPr/>
        </p:nvSpPr>
        <p:spPr>
          <a:xfrm>
            <a:off x="640080" y="1371600"/>
            <a:ext cx="10911535" cy="1097280"/>
          </a:xfrm>
          <a:prstGeom prst="rect">
            <a:avLst/>
          </a:prstGeom>
          <a:noFill/>
        </p:spPr>
        <p:txBody>
          <a:bodyPr wrap="square" anchor="t" lIns="45720" rIns="45720">
            <a:spAutoFit/>
          </a:bodyPr>
          <a:lstStyle/>
          <a:p>
            <a:pPr algn="l"/>
            <a:r>
              <a:rPr sz="2400" b="0">
                <a:solidFill>
                  <a:srgbClr val="1B263B"/>
                </a:solidFill>
                <a:latin typeface="Calibri"/>
              </a:rPr>
              <a:t>Python type checkers should follow one typing specification, but they often disagree on the same program. We find which disagreements are real bugs.</a:t>
            </a:r>
          </a:p>
        </p:txBody>
      </p:sp>
      <p:sp>
        <p:nvSpPr>
          <p:cNvPr id="8" name="Rectangle 7"/>
          <p:cNvSpPr/>
          <p:nvPr/>
        </p:nvSpPr>
        <p:spPr>
          <a:xfrm>
            <a:off x="685800" y="2834640"/>
            <a:ext cx="54864" cy="91440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34640"/>
            <a:ext cx="2377440" cy="914400"/>
          </a:xfrm>
          <a:prstGeom prst="rect">
            <a:avLst/>
          </a:prstGeom>
          <a:noFill/>
        </p:spPr>
        <p:txBody>
          <a:bodyPr wrap="square" anchor="ctr" lIns="45720" rIns="45720">
            <a:spAutoFit/>
          </a:bodyPr>
          <a:lstStyle/>
          <a:p>
            <a:pPr algn="l"/>
            <a:r>
              <a:rPr sz="2200" b="1">
                <a:solidFill>
                  <a:srgbClr val="1F6FB5"/>
                </a:solidFill>
                <a:latin typeface="Calibri"/>
              </a:rPr>
              <a:t>Problem</a:t>
            </a:r>
          </a:p>
        </p:txBody>
      </p:sp>
      <p:sp>
        <p:nvSpPr>
          <p:cNvPr id="10" name="TextBox 9"/>
          <p:cNvSpPr txBox="1"/>
          <p:nvPr/>
        </p:nvSpPr>
        <p:spPr>
          <a:xfrm>
            <a:off x="3383280" y="2834640"/>
            <a:ext cx="8168335" cy="914400"/>
          </a:xfrm>
          <a:prstGeom prst="rect">
            <a:avLst/>
          </a:prstGeom>
          <a:noFill/>
        </p:spPr>
        <p:txBody>
          <a:bodyPr wrap="square" anchor="ctr" lIns="45720" rIns="45720">
            <a:spAutoFit/>
          </a:bodyPr>
          <a:lstStyle/>
          <a:p>
            <a:pPr algn="l"/>
            <a:r>
              <a:rPr sz="1800" b="0">
                <a:solidFill>
                  <a:srgbClr val="1B263B"/>
                </a:solidFill>
                <a:latin typeface="Calibri"/>
              </a:rPr>
              <a:t>mypy, pyright and the new Rust-based ty disagree on many programs, and the spec itself is incomplete in places.</a:t>
            </a:r>
          </a:p>
        </p:txBody>
      </p:sp>
      <p:sp>
        <p:nvSpPr>
          <p:cNvPr id="11" name="Rectangle 10"/>
          <p:cNvSpPr/>
          <p:nvPr/>
        </p:nvSpPr>
        <p:spPr>
          <a:xfrm>
            <a:off x="685800" y="3931920"/>
            <a:ext cx="54864" cy="91440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931920"/>
            <a:ext cx="2377440" cy="914400"/>
          </a:xfrm>
          <a:prstGeom prst="rect">
            <a:avLst/>
          </a:prstGeom>
          <a:noFill/>
        </p:spPr>
        <p:txBody>
          <a:bodyPr wrap="square" anchor="ctr" lIns="45720" rIns="45720">
            <a:spAutoFit/>
          </a:bodyPr>
          <a:lstStyle/>
          <a:p>
            <a:pPr algn="l"/>
            <a:r>
              <a:rPr sz="2200" b="1">
                <a:solidFill>
                  <a:srgbClr val="1F6FB5"/>
                </a:solidFill>
                <a:latin typeface="Calibri"/>
              </a:rPr>
              <a:t>Why it is hard</a:t>
            </a:r>
          </a:p>
        </p:txBody>
      </p:sp>
      <p:sp>
        <p:nvSpPr>
          <p:cNvPr id="13" name="TextBox 12"/>
          <p:cNvSpPr txBox="1"/>
          <p:nvPr/>
        </p:nvSpPr>
        <p:spPr>
          <a:xfrm>
            <a:off x="3383280" y="3931920"/>
            <a:ext cx="8168335" cy="914400"/>
          </a:xfrm>
          <a:prstGeom prst="rect">
            <a:avLst/>
          </a:prstGeom>
          <a:noFill/>
        </p:spPr>
        <p:txBody>
          <a:bodyPr wrap="square" anchor="ctr" lIns="45720" rIns="45720">
            <a:spAutoFit/>
          </a:bodyPr>
          <a:lstStyle/>
          <a:p>
            <a:pPr algn="l"/>
            <a:r>
              <a:rPr sz="1800" b="0">
                <a:solidFill>
                  <a:srgbClr val="1B263B"/>
                </a:solidFill>
                <a:latin typeface="Calibri"/>
              </a:rPr>
              <a:t>Most disagreements are intended design choices, known limits or already-reported issues. Sorting them by hand does not scale.</a:t>
            </a:r>
          </a:p>
        </p:txBody>
      </p:sp>
      <p:sp>
        <p:nvSpPr>
          <p:cNvPr id="14" name="Rectangle 13"/>
          <p:cNvSpPr/>
          <p:nvPr/>
        </p:nvSpPr>
        <p:spPr>
          <a:xfrm>
            <a:off x="685800" y="5029200"/>
            <a:ext cx="54864" cy="91440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5029200"/>
            <a:ext cx="2377440" cy="914400"/>
          </a:xfrm>
          <a:prstGeom prst="rect">
            <a:avLst/>
          </a:prstGeom>
          <a:noFill/>
        </p:spPr>
        <p:txBody>
          <a:bodyPr wrap="square" anchor="ctr" lIns="45720" rIns="45720">
            <a:spAutoFit/>
          </a:bodyPr>
          <a:lstStyle/>
          <a:p>
            <a:pPr algn="l"/>
            <a:r>
              <a:rPr sz="2200" b="1">
                <a:solidFill>
                  <a:srgbClr val="1F6FB5"/>
                </a:solidFill>
                <a:latin typeface="Calibri"/>
              </a:rPr>
              <a:t>Our approach</a:t>
            </a:r>
          </a:p>
        </p:txBody>
      </p:sp>
      <p:sp>
        <p:nvSpPr>
          <p:cNvPr id="16" name="TextBox 15"/>
          <p:cNvSpPr txBox="1"/>
          <p:nvPr/>
        </p:nvSpPr>
        <p:spPr>
          <a:xfrm>
            <a:off x="3383280" y="5029200"/>
            <a:ext cx="8168335" cy="914400"/>
          </a:xfrm>
          <a:prstGeom prst="rect">
            <a:avLst/>
          </a:prstGeom>
          <a:noFill/>
        </p:spPr>
        <p:txBody>
          <a:bodyPr wrap="square" anchor="ctr" lIns="45720" rIns="45720">
            <a:spAutoFit/>
          </a:bodyPr>
          <a:lstStyle/>
          <a:p>
            <a:pPr algn="l"/>
            <a:r>
              <a:rPr sz="1800" b="0">
                <a:solidFill>
                  <a:srgbClr val="1B263B"/>
                </a:solidFill>
                <a:latin typeface="Calibri"/>
              </a:rPr>
              <a:t>Run the same programs through several checkers and real CPython, auto-filter known differences, surface the few genuine bugs (mainly ty, also mypy).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11535" cy="685800"/>
          </a:xfrm>
          <a:prstGeom prst="rect">
            <a:avLst/>
          </a:prstGeom>
          <a:noFill/>
        </p:spPr>
        <p:txBody>
          <a:bodyPr wrap="square" anchor="ctr" lIns="45720" rIns="45720">
            <a:spAutoFit/>
          </a:bodyPr>
          <a:lstStyle/>
          <a:p>
            <a:pPr algn="l"/>
            <a:r>
              <a:rPr sz="3400" b="1">
                <a:solidFill>
                  <a:srgbClr val="1B263B"/>
                </a:solidFill>
                <a:latin typeface="Calibri"/>
              </a:rPr>
              <a:t>Motivation: why type checkers, why ty</a:t>
            </a:r>
          </a:p>
        </p:txBody>
      </p:sp>
      <p:sp>
        <p:nvSpPr>
          <p:cNvPr id="3" name="Rectangle 2"/>
          <p:cNvSpPr/>
          <p:nvPr/>
        </p:nvSpPr>
        <p:spPr>
          <a:xfrm>
            <a:off x="685800" y="1051560"/>
            <a:ext cx="822960" cy="5486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6400800"/>
            <a:ext cx="10865815" cy="9144"/>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28232"/>
            <a:ext cx="3657600" cy="320040"/>
          </a:xfrm>
          <a:prstGeom prst="rect">
            <a:avLst/>
          </a:prstGeom>
          <a:noFill/>
        </p:spPr>
        <p:txBody>
          <a:bodyPr wrap="square" anchor="t" lIns="45720" rIns="45720">
            <a:spAutoFit/>
          </a:bodyPr>
          <a:lstStyle/>
          <a:p>
            <a:pPr algn="l"/>
            <a:r>
              <a:rPr sz="1200" b="0">
                <a:solidFill>
                  <a:srgbClr val="6B7280"/>
                </a:solidFill>
                <a:latin typeface="Calibri"/>
              </a:rPr>
              <a:t>typediff</a:t>
            </a:r>
          </a:p>
        </p:txBody>
      </p:sp>
      <p:sp>
        <p:nvSpPr>
          <p:cNvPr id="6" name="TextBox 5"/>
          <p:cNvSpPr txBox="1"/>
          <p:nvPr/>
        </p:nvSpPr>
        <p:spPr>
          <a:xfrm>
            <a:off x="10637215" y="6428232"/>
            <a:ext cx="914400" cy="320040"/>
          </a:xfrm>
          <a:prstGeom prst="rect">
            <a:avLst/>
          </a:prstGeom>
          <a:noFill/>
        </p:spPr>
        <p:txBody>
          <a:bodyPr wrap="square" anchor="t" lIns="45720" rIns="45720">
            <a:spAutoFit/>
          </a:bodyPr>
          <a:lstStyle/>
          <a:p>
            <a:pPr algn="r"/>
            <a:r>
              <a:rPr sz="1200" b="0">
                <a:solidFill>
                  <a:srgbClr val="6B7280"/>
                </a:solidFill>
                <a:latin typeface="Calibri"/>
              </a:rPr>
              <a:t>3</a:t>
            </a:r>
          </a:p>
        </p:txBody>
      </p:sp>
      <p:sp>
        <p:nvSpPr>
          <p:cNvPr id="7" name="Rectangle 6"/>
          <p:cNvSpPr/>
          <p:nvPr/>
        </p:nvSpPr>
        <p:spPr>
          <a:xfrm>
            <a:off x="678027" y="1325880"/>
            <a:ext cx="3429000" cy="4434840"/>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78027" y="1325880"/>
            <a:ext cx="3429000" cy="73152"/>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0907" y="1508760"/>
            <a:ext cx="3063240" cy="457200"/>
          </a:xfrm>
          <a:prstGeom prst="rect">
            <a:avLst/>
          </a:prstGeom>
          <a:noFill/>
        </p:spPr>
        <p:txBody>
          <a:bodyPr wrap="square" anchor="t" lIns="45720" rIns="45720">
            <a:spAutoFit/>
          </a:bodyPr>
          <a:lstStyle/>
          <a:p>
            <a:pPr algn="l"/>
            <a:r>
              <a:rPr sz="2200" b="1">
                <a:solidFill>
                  <a:srgbClr val="1F6FB5"/>
                </a:solidFill>
                <a:latin typeface="Calibri"/>
              </a:rPr>
              <a:t>Why type checkers matter</a:t>
            </a:r>
          </a:p>
        </p:txBody>
      </p:sp>
      <p:sp>
        <p:nvSpPr>
          <p:cNvPr id="10" name="TextBox 9"/>
          <p:cNvSpPr txBox="1"/>
          <p:nvPr/>
        </p:nvSpPr>
        <p:spPr>
          <a:xfrm>
            <a:off x="860907" y="2423160"/>
            <a:ext cx="3063240" cy="3200400"/>
          </a:xfrm>
          <a:prstGeom prst="rect">
            <a:avLst/>
          </a:prstGeom>
          <a:noFill/>
        </p:spPr>
        <p:txBody>
          <a:bodyPr wrap="square" anchor="t" lIns="45720" rIns="45720">
            <a:spAutoFit/>
          </a:bodyPr>
          <a:lstStyle/>
          <a:p>
            <a:pPr algn="l"/>
            <a:r>
              <a:rPr sz="1800" b="0">
                <a:solidFill>
                  <a:srgbClr val="1B263B"/>
                </a:solidFill>
                <a:latin typeface="Calibri"/>
              </a:rPr>
              <a:t>•  They run in editors, CI and AI-assisted coding</a:t>
            </a:r>
          </a:p>
          <a:p>
            <a:pPr algn="l">
              <a:spcBef>
                <a:spcPts val="900"/>
              </a:spcBef>
            </a:pPr>
            <a:r>
              <a:rPr sz="1800" b="0">
                <a:solidFill>
                  <a:srgbClr val="1B263B"/>
                </a:solidFill>
                <a:latin typeface="Calibri"/>
              </a:rPr>
              <a:t>•  A wrong answer silently misleads many developers</a:t>
            </a:r>
          </a:p>
          <a:p>
            <a:pPr algn="l">
              <a:spcBef>
                <a:spcPts val="900"/>
              </a:spcBef>
            </a:pPr>
            <a:r>
              <a:rPr sz="1800" b="0">
                <a:solidFill>
                  <a:srgbClr val="1B263B"/>
                </a:solidFill>
                <a:latin typeface="Calibri"/>
              </a:rPr>
              <a:t>•  Users expect them to follow the spec</a:t>
            </a:r>
          </a:p>
        </p:txBody>
      </p:sp>
      <p:sp>
        <p:nvSpPr>
          <p:cNvPr id="11" name="Rectangle 10"/>
          <p:cNvSpPr/>
          <p:nvPr/>
        </p:nvSpPr>
        <p:spPr>
          <a:xfrm>
            <a:off x="4381347" y="1325880"/>
            <a:ext cx="3429000" cy="4434840"/>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1347" y="1325880"/>
            <a:ext cx="3429000" cy="73152"/>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4227" y="1508760"/>
            <a:ext cx="3063240" cy="457200"/>
          </a:xfrm>
          <a:prstGeom prst="rect">
            <a:avLst/>
          </a:prstGeom>
          <a:noFill/>
        </p:spPr>
        <p:txBody>
          <a:bodyPr wrap="square" anchor="t" lIns="45720" rIns="45720">
            <a:spAutoFit/>
          </a:bodyPr>
          <a:lstStyle/>
          <a:p>
            <a:pPr algn="l"/>
            <a:r>
              <a:rPr sz="2200" b="1">
                <a:solidFill>
                  <a:srgbClr val="1F6FB5"/>
                </a:solidFill>
                <a:latin typeface="Calibri"/>
              </a:rPr>
              <a:t>Why ty</a:t>
            </a:r>
          </a:p>
        </p:txBody>
      </p:sp>
      <p:sp>
        <p:nvSpPr>
          <p:cNvPr id="14" name="TextBox 13"/>
          <p:cNvSpPr txBox="1"/>
          <p:nvPr/>
        </p:nvSpPr>
        <p:spPr>
          <a:xfrm>
            <a:off x="4564227" y="2423160"/>
            <a:ext cx="3063240" cy="3200400"/>
          </a:xfrm>
          <a:prstGeom prst="rect">
            <a:avLst/>
          </a:prstGeom>
          <a:noFill/>
        </p:spPr>
        <p:txBody>
          <a:bodyPr wrap="square" anchor="t" lIns="45720" rIns="45720">
            <a:spAutoFit/>
          </a:bodyPr>
          <a:lstStyle/>
          <a:p>
            <a:pPr algn="l"/>
            <a:r>
              <a:rPr sz="1800" b="0">
                <a:solidFill>
                  <a:srgbClr val="1B263B"/>
                </a:solidFill>
                <a:latin typeface="Calibri"/>
              </a:rPr>
              <a:t>•  New Rust checker from Astral, now part of OpenAI [2]</a:t>
            </a:r>
          </a:p>
          <a:p>
            <a:pPr algn="l">
              <a:spcBef>
                <a:spcPts val="900"/>
              </a:spcBef>
            </a:pPr>
            <a:r>
              <a:rPr sz="1800" b="0">
                <a:solidFill>
                  <a:srgbClr val="1B263B"/>
                </a:solidFill>
                <a:latin typeface="Calibri"/>
              </a:rPr>
              <a:t>•  Reported 10x-60x faster than mypy and Pyright [1]</a:t>
            </a:r>
          </a:p>
          <a:p>
            <a:pPr algn="l">
              <a:spcBef>
                <a:spcPts val="900"/>
              </a:spcBef>
            </a:pPr>
            <a:r>
              <a:rPr sz="1800" b="0">
                <a:solidFill>
                  <a:srgbClr val="1B263B"/>
                </a:solidFill>
                <a:latin typeface="Calibri"/>
              </a:rPr>
              <a:t>•  Still beta, behind on spec coverage [3]</a:t>
            </a:r>
          </a:p>
          <a:p>
            <a:pPr algn="l">
              <a:spcBef>
                <a:spcPts val="900"/>
              </a:spcBef>
            </a:pPr>
            <a:r>
              <a:rPr sz="1800" b="0">
                <a:solidFill>
                  <a:srgbClr val="1B263B"/>
                </a:solidFill>
                <a:latin typeface="Calibri"/>
              </a:rPr>
              <a:t>•  pydantic-ai: 337 of 417 diagnostics were false positives [4]</a:t>
            </a:r>
          </a:p>
        </p:txBody>
      </p:sp>
      <p:sp>
        <p:nvSpPr>
          <p:cNvPr id="15" name="Rectangle 14"/>
          <p:cNvSpPr/>
          <p:nvPr/>
        </p:nvSpPr>
        <p:spPr>
          <a:xfrm>
            <a:off x="8084667" y="1325880"/>
            <a:ext cx="3429000" cy="4434840"/>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84667" y="1325880"/>
            <a:ext cx="3429000" cy="73152"/>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67547" y="1508760"/>
            <a:ext cx="3063240" cy="457200"/>
          </a:xfrm>
          <a:prstGeom prst="rect">
            <a:avLst/>
          </a:prstGeom>
          <a:noFill/>
        </p:spPr>
        <p:txBody>
          <a:bodyPr wrap="square" anchor="t" lIns="45720" rIns="45720">
            <a:spAutoFit/>
          </a:bodyPr>
          <a:lstStyle/>
          <a:p>
            <a:pPr algn="l"/>
            <a:r>
              <a:rPr sz="2200" b="1">
                <a:solidFill>
                  <a:srgbClr val="1F6FB5"/>
                </a:solidFill>
                <a:latin typeface="Calibri"/>
              </a:rPr>
              <a:t>Why differential testing</a:t>
            </a:r>
          </a:p>
        </p:txBody>
      </p:sp>
      <p:sp>
        <p:nvSpPr>
          <p:cNvPr id="18" name="TextBox 17"/>
          <p:cNvSpPr txBox="1"/>
          <p:nvPr/>
        </p:nvSpPr>
        <p:spPr>
          <a:xfrm>
            <a:off x="8267547" y="2423160"/>
            <a:ext cx="3063240" cy="3200400"/>
          </a:xfrm>
          <a:prstGeom prst="rect">
            <a:avLst/>
          </a:prstGeom>
          <a:noFill/>
        </p:spPr>
        <p:txBody>
          <a:bodyPr wrap="square" anchor="t" lIns="45720" rIns="45720">
            <a:spAutoFit/>
          </a:bodyPr>
          <a:lstStyle/>
          <a:p>
            <a:pPr algn="l"/>
            <a:r>
              <a:rPr sz="1800" b="0">
                <a:solidFill>
                  <a:srgbClr val="1B263B"/>
                </a:solidFill>
                <a:latin typeface="Calibri"/>
              </a:rPr>
              <a:t>•  No hand-written oracle needed</a:t>
            </a:r>
          </a:p>
          <a:p>
            <a:pPr algn="l">
              <a:spcBef>
                <a:spcPts val="900"/>
              </a:spcBef>
            </a:pPr>
            <a:r>
              <a:rPr sz="1800" b="0">
                <a:solidFill>
                  <a:srgbClr val="1B263B"/>
                </a:solidFill>
                <a:latin typeface="Calibri"/>
              </a:rPr>
              <a:t>•  Other checkers and CPython act as oracles</a:t>
            </a:r>
          </a:p>
          <a:p>
            <a:pPr algn="l">
              <a:spcBef>
                <a:spcPts val="900"/>
              </a:spcBef>
            </a:pPr>
            <a:r>
              <a:rPr sz="1800" b="0">
                <a:solidFill>
                  <a:srgbClr val="1B263B"/>
                </a:solidFill>
                <a:latin typeface="Calibri"/>
              </a:rPr>
              <a:t>•  Young tool: bugs found now are cheap to fix and high impact</a:t>
            </a:r>
          </a:p>
        </p:txBody>
      </p:sp>
      <p:sp>
        <p:nvSpPr>
          <p:cNvPr id="19" name="TextBox 18"/>
          <p:cNvSpPr txBox="1"/>
          <p:nvPr/>
        </p:nvSpPr>
        <p:spPr>
          <a:xfrm>
            <a:off x="640080" y="5897880"/>
            <a:ext cx="10911535" cy="457200"/>
          </a:xfrm>
          <a:prstGeom prst="rect">
            <a:avLst/>
          </a:prstGeom>
          <a:noFill/>
        </p:spPr>
        <p:txBody>
          <a:bodyPr wrap="square" lIns="45720" rIns="45720">
            <a:spAutoFit/>
          </a:bodyPr>
          <a:lstStyle/>
          <a:p>
            <a:r>
              <a:rPr sz="1100" b="1">
                <a:solidFill>
                  <a:srgbClr val="6B7280"/>
                </a:solidFill>
                <a:latin typeface="Calibri"/>
              </a:rPr>
              <a:t>Sources:  </a:t>
            </a:r>
            <a:r>
              <a:rPr sz="1100">
                <a:solidFill>
                  <a:srgbClr val="6B7280"/>
                </a:solidFill>
                <a:latin typeface="Calibri"/>
                <a:hlinkClick r:id="rId2"/>
              </a:rPr>
              <a:t>[1] astral.sh/blog/ty    </a:t>
            </a:r>
            <a:r>
              <a:rPr sz="1100">
                <a:solidFill>
                  <a:srgbClr val="6B7280"/>
                </a:solidFill>
                <a:latin typeface="Calibri"/>
                <a:hlinkClick r:id="rId3"/>
              </a:rPr>
              <a:t>[2] pydevtools.com ty guide    </a:t>
            </a:r>
            <a:r>
              <a:rPr sz="1100">
                <a:solidFill>
                  <a:srgbClr val="6B7280"/>
                </a:solidFill>
                <a:latin typeface="Calibri"/>
                <a:hlinkClick r:id="rId4"/>
              </a:rPr>
              <a:t>[3] jlevy/simple-modern-uv type-checker comparison    </a:t>
            </a:r>
            <a:r>
              <a:rPr sz="1100">
                <a:solidFill>
                  <a:srgbClr val="6B7280"/>
                </a:solidFill>
                <a:latin typeface="Calibri"/>
                <a:hlinkClick r:id="rId5"/>
              </a:rPr>
              <a:t>[4] pydantic-ai issue #3970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11535" cy="685800"/>
          </a:xfrm>
          <a:prstGeom prst="rect">
            <a:avLst/>
          </a:prstGeom>
          <a:noFill/>
        </p:spPr>
        <p:txBody>
          <a:bodyPr wrap="square" anchor="ctr" lIns="45720" rIns="45720">
            <a:spAutoFit/>
          </a:bodyPr>
          <a:lstStyle/>
          <a:p>
            <a:pPr algn="l"/>
            <a:r>
              <a:rPr sz="3400" b="1">
                <a:solidFill>
                  <a:srgbClr val="1B263B"/>
                </a:solidFill>
                <a:latin typeface="Calibri"/>
              </a:rPr>
              <a:t>Architecture: from programs to filed bugs</a:t>
            </a:r>
          </a:p>
        </p:txBody>
      </p:sp>
      <p:sp>
        <p:nvSpPr>
          <p:cNvPr id="3" name="Rectangle 2"/>
          <p:cNvSpPr/>
          <p:nvPr/>
        </p:nvSpPr>
        <p:spPr>
          <a:xfrm>
            <a:off x="685800" y="1051560"/>
            <a:ext cx="822960" cy="5486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6400800"/>
            <a:ext cx="10865815" cy="9144"/>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28232"/>
            <a:ext cx="3657600" cy="320040"/>
          </a:xfrm>
          <a:prstGeom prst="rect">
            <a:avLst/>
          </a:prstGeom>
          <a:noFill/>
        </p:spPr>
        <p:txBody>
          <a:bodyPr wrap="square" anchor="t" lIns="45720" rIns="45720">
            <a:spAutoFit/>
          </a:bodyPr>
          <a:lstStyle/>
          <a:p>
            <a:pPr algn="l"/>
            <a:r>
              <a:rPr sz="1200" b="0">
                <a:solidFill>
                  <a:srgbClr val="6B7280"/>
                </a:solidFill>
                <a:latin typeface="Calibri"/>
              </a:rPr>
              <a:t>typediff</a:t>
            </a:r>
          </a:p>
        </p:txBody>
      </p:sp>
      <p:sp>
        <p:nvSpPr>
          <p:cNvPr id="6" name="TextBox 5"/>
          <p:cNvSpPr txBox="1"/>
          <p:nvPr/>
        </p:nvSpPr>
        <p:spPr>
          <a:xfrm>
            <a:off x="10637215" y="6428232"/>
            <a:ext cx="914400" cy="320040"/>
          </a:xfrm>
          <a:prstGeom prst="rect">
            <a:avLst/>
          </a:prstGeom>
          <a:noFill/>
        </p:spPr>
        <p:txBody>
          <a:bodyPr wrap="square" anchor="t" lIns="45720" rIns="45720">
            <a:spAutoFit/>
          </a:bodyPr>
          <a:lstStyle/>
          <a:p>
            <a:pPr algn="r"/>
            <a:r>
              <a:rPr sz="1200" b="0">
                <a:solidFill>
                  <a:srgbClr val="6B7280"/>
                </a:solidFill>
                <a:latin typeface="Calibri"/>
              </a:rPr>
              <a:t>4</a:t>
            </a:r>
          </a:p>
        </p:txBody>
      </p:sp>
      <p:sp>
        <p:nvSpPr>
          <p:cNvPr id="7" name="Rounded Rectangle 6"/>
          <p:cNvSpPr/>
          <p:nvPr/>
        </p:nvSpPr>
        <p:spPr>
          <a:xfrm>
            <a:off x="384048" y="1325880"/>
            <a:ext cx="2011680" cy="1417320"/>
          </a:xfrm>
          <a:prstGeom prst="roundRect">
            <a:avLst>
              <a:gd name="adj" fmla="val 12000"/>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FFFFFF"/>
                </a:solidFill>
                <a:latin typeface="Calibri"/>
              </a:rPr>
              <a:t>INPUT PROGRAMS</a:t>
            </a:r>
          </a:p>
          <a:p>
            <a:pPr algn="ctr"/>
            <a:r>
              <a:rPr sz="1400" b="0">
                <a:solidFill>
                  <a:srgbClr val="FFFFFF"/>
                </a:solidFill>
                <a:latin typeface="Calibri"/>
              </a:rPr>
              <a:t>27 hand-written seeds</a:t>
            </a:r>
          </a:p>
          <a:p>
            <a:pPr algn="ctr"/>
            <a:r>
              <a:rPr sz="1400" b="0">
                <a:solidFill>
                  <a:srgbClr val="FFFFFF"/>
                </a:solidFill>
                <a:latin typeface="Calibri"/>
              </a:rPr>
              <a:t>4,849 harvested</a:t>
            </a:r>
          </a:p>
          <a:p>
            <a:pPr algn="ctr"/>
            <a:r>
              <a:rPr sz="1400" b="0">
                <a:solidFill>
                  <a:srgbClr val="FFFFFF"/>
                </a:solidFill>
                <a:latin typeface="Calibri"/>
              </a:rPr>
              <a:t>LLM-generated</a:t>
            </a:r>
          </a:p>
        </p:txBody>
      </p:sp>
      <p:sp>
        <p:nvSpPr>
          <p:cNvPr id="8" name="Rounded Rectangle 7"/>
          <p:cNvSpPr/>
          <p:nvPr/>
        </p:nvSpPr>
        <p:spPr>
          <a:xfrm>
            <a:off x="2807208" y="1325880"/>
            <a:ext cx="2011680" cy="1417320"/>
          </a:xfrm>
          <a:prstGeom prst="roundRect">
            <a:avLst>
              <a:gd name="adj" fmla="val 12000"/>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FFFFFF"/>
                </a:solidFill>
                <a:latin typeface="Calibri"/>
              </a:rPr>
              <a:t>RUN</a:t>
            </a:r>
          </a:p>
          <a:p>
            <a:pPr algn="ctr"/>
            <a:r>
              <a:rPr sz="1400" b="0">
                <a:solidFill>
                  <a:srgbClr val="FFFFFF"/>
                </a:solidFill>
                <a:latin typeface="Calibri"/>
              </a:rPr>
              <a:t>mypy 2.4.0, ty 0.0.84, pyright</a:t>
            </a:r>
          </a:p>
          <a:p>
            <a:pPr algn="ctr"/>
            <a:r>
              <a:rPr sz="1400" b="0">
                <a:solidFill>
                  <a:srgbClr val="FFFFFF"/>
                </a:solidFill>
                <a:latin typeface="Calibri"/>
              </a:rPr>
              <a:t>CPython = ground truth</a:t>
            </a:r>
          </a:p>
        </p:txBody>
      </p:sp>
      <p:sp>
        <p:nvSpPr>
          <p:cNvPr id="9" name="Rounded Rectangle 8"/>
          <p:cNvSpPr/>
          <p:nvPr/>
        </p:nvSpPr>
        <p:spPr>
          <a:xfrm>
            <a:off x="5230368" y="1325880"/>
            <a:ext cx="2011680" cy="1417320"/>
          </a:xfrm>
          <a:prstGeom prst="roundRect">
            <a:avLst>
              <a:gd name="adj" fmla="val 12000"/>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FFFFFF"/>
                </a:solidFill>
                <a:latin typeface="Calibri"/>
              </a:rPr>
              <a:t>NORMALISE &amp; COMPARE</a:t>
            </a:r>
          </a:p>
          <a:p>
            <a:pPr algn="ctr"/>
            <a:r>
              <a:rPr sz="1400" b="0">
                <a:solidFill>
                  <a:srgbClr val="FFFFFF"/>
                </a:solidFill>
                <a:latin typeface="Calibri"/>
              </a:rPr>
              <a:t>parse diagnostics and reveal_type</a:t>
            </a:r>
          </a:p>
          <a:p>
            <a:pPr algn="ctr"/>
            <a:r>
              <a:rPr sz="1400" b="0">
                <a:solidFill>
                  <a:srgbClr val="FFFFFF"/>
                </a:solidFill>
                <a:latin typeface="Calibri"/>
              </a:rPr>
              <a:t>align by statement</a:t>
            </a:r>
          </a:p>
        </p:txBody>
      </p:sp>
      <p:sp>
        <p:nvSpPr>
          <p:cNvPr id="10" name="Rounded Rectangle 9"/>
          <p:cNvSpPr/>
          <p:nvPr/>
        </p:nvSpPr>
        <p:spPr>
          <a:xfrm>
            <a:off x="7653528" y="1325880"/>
            <a:ext cx="2011680" cy="1417320"/>
          </a:xfrm>
          <a:prstGeom prst="roundRect">
            <a:avLst>
              <a:gd name="adj" fmla="val 12000"/>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FFFFFF"/>
                </a:solidFill>
                <a:latin typeface="Calibri"/>
              </a:rPr>
              <a:t>AUTO-FILTER</a:t>
            </a:r>
          </a:p>
          <a:p>
            <a:pPr algn="ctr"/>
            <a:r>
              <a:rPr sz="1400" b="0">
                <a:solidFill>
                  <a:srgbClr val="FFFFFF"/>
                </a:solidFill>
                <a:latin typeface="Calibri"/>
              </a:rPr>
              <a:t>KB: intended, known, cascades, invalid</a:t>
            </a:r>
          </a:p>
          <a:p>
            <a:pPr algn="ctr"/>
            <a:r>
              <a:rPr sz="1400" b="0">
                <a:solidFill>
                  <a:srgbClr val="FFFFFF"/>
                </a:solidFill>
                <a:latin typeface="Calibri"/>
              </a:rPr>
              <a:t>dismissed ones leave</a:t>
            </a:r>
          </a:p>
        </p:txBody>
      </p:sp>
      <p:sp>
        <p:nvSpPr>
          <p:cNvPr id="11" name="Rounded Rectangle 10"/>
          <p:cNvSpPr/>
          <p:nvPr/>
        </p:nvSpPr>
        <p:spPr>
          <a:xfrm>
            <a:off x="10076688" y="1325880"/>
            <a:ext cx="2011680" cy="1417320"/>
          </a:xfrm>
          <a:prstGeom prst="roundRect">
            <a:avLst>
              <a:gd name="adj" fmla="val 12000"/>
            </a:avLst>
          </a:prstGeom>
          <a:solidFill>
            <a:srgbClr val="E9ECF1"/>
          </a:solidFill>
          <a:ln w="254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REVIEW QUEUE</a:t>
            </a:r>
          </a:p>
          <a:p>
            <a:pPr algn="ctr"/>
            <a:r>
              <a:rPr sz="1400" b="0">
                <a:solidFill>
                  <a:srgbClr val="1B263B"/>
                </a:solidFill>
                <a:latin typeface="Calibri"/>
              </a:rPr>
              <a:t>grouped into patterns (triage)</a:t>
            </a:r>
          </a:p>
        </p:txBody>
      </p:sp>
      <p:sp>
        <p:nvSpPr>
          <p:cNvPr id="12" name="Rounded Rectangle 11"/>
          <p:cNvSpPr/>
          <p:nvPr/>
        </p:nvSpPr>
        <p:spPr>
          <a:xfrm>
            <a:off x="7653528" y="3200400"/>
            <a:ext cx="2011680" cy="960120"/>
          </a:xfrm>
          <a:prstGeom prst="roundRect">
            <a:avLst>
              <a:gd name="adj" fmla="val 12000"/>
            </a:avLst>
          </a:prstGeom>
          <a:solidFill>
            <a:srgbClr val="E9ECF1"/>
          </a:solidFill>
          <a:ln w="254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Add KB / harness rule</a:t>
            </a:r>
          </a:p>
        </p:txBody>
      </p:sp>
      <p:sp>
        <p:nvSpPr>
          <p:cNvPr id="13" name="Diamond 12"/>
          <p:cNvSpPr/>
          <p:nvPr/>
        </p:nvSpPr>
        <p:spPr>
          <a:xfrm>
            <a:off x="10076688" y="3108960"/>
            <a:ext cx="2011680" cy="1143000"/>
          </a:xfrm>
          <a:prstGeom prst="diamond">
            <a:avLst/>
          </a:prstGeom>
          <a:solidFill>
            <a:srgbClr val="E9ECF1"/>
          </a:solidFill>
          <a:ln w="254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Real candidate?</a:t>
            </a:r>
          </a:p>
        </p:txBody>
      </p:sp>
      <p:sp>
        <p:nvSpPr>
          <p:cNvPr id="14" name="Rounded Rectangle 13"/>
          <p:cNvSpPr/>
          <p:nvPr/>
        </p:nvSpPr>
        <p:spPr>
          <a:xfrm>
            <a:off x="10076688" y="4526280"/>
            <a:ext cx="2011680" cy="685800"/>
          </a:xfrm>
          <a:prstGeom prst="roundRect">
            <a:avLst>
              <a:gd name="adj" fmla="val 12000"/>
            </a:avLst>
          </a:prstGeom>
          <a:solidFill>
            <a:srgbClr val="FFFFFF"/>
          </a:solidFill>
          <a:ln w="254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6B7280"/>
                </a:solidFill>
                <a:latin typeface="Calibri"/>
              </a:rPr>
              <a:t>Hits</a:t>
            </a:r>
          </a:p>
        </p:txBody>
      </p:sp>
      <p:sp>
        <p:nvSpPr>
          <p:cNvPr id="15" name="Rounded Rectangle 14"/>
          <p:cNvSpPr/>
          <p:nvPr/>
        </p:nvSpPr>
        <p:spPr>
          <a:xfrm>
            <a:off x="7653528" y="4343400"/>
            <a:ext cx="2011680" cy="1188720"/>
          </a:xfrm>
          <a:prstGeom prst="roundRect">
            <a:avLst>
              <a:gd name="adj" fmla="val 12000"/>
            </a:avLst>
          </a:prstGeom>
          <a:solidFill>
            <a:srgbClr val="E9ECF1"/>
          </a:solidFill>
          <a:ln w="254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VERIFY</a:t>
            </a:r>
          </a:p>
          <a:p>
            <a:pPr algn="ctr"/>
            <a:r>
              <a:rPr sz="1400" b="0">
                <a:solidFill>
                  <a:srgbClr val="1B263B"/>
                </a:solidFill>
                <a:latin typeface="Calibri"/>
              </a:rPr>
              <a:t>spec, CPython, tracker search, minimal repro</a:t>
            </a:r>
          </a:p>
        </p:txBody>
      </p:sp>
      <p:sp>
        <p:nvSpPr>
          <p:cNvPr id="16" name="Rounded Rectangle 15"/>
          <p:cNvSpPr/>
          <p:nvPr/>
        </p:nvSpPr>
        <p:spPr>
          <a:xfrm>
            <a:off x="5230368" y="4526280"/>
            <a:ext cx="2011680" cy="685800"/>
          </a:xfrm>
          <a:prstGeom prst="roundRect">
            <a:avLst>
              <a:gd name="adj" fmla="val 12000"/>
            </a:avLst>
          </a:prstGeom>
          <a:solidFill>
            <a:srgbClr val="E9ECF1"/>
          </a:solidFill>
          <a:ln w="2540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FILE ISSUE</a:t>
            </a:r>
          </a:p>
          <a:p>
            <a:pPr algn="ctr"/>
            <a:r>
              <a:rPr sz="1400" b="0">
                <a:solidFill>
                  <a:srgbClr val="1B263B"/>
                </a:solidFill>
                <a:latin typeface="Calibri"/>
              </a:rPr>
              <a:t>upstream</a:t>
            </a:r>
          </a:p>
        </p:txBody>
      </p:sp>
      <p:sp>
        <p:nvSpPr>
          <p:cNvPr id="17" name="Rounded Rectangle 16"/>
          <p:cNvSpPr/>
          <p:nvPr/>
        </p:nvSpPr>
        <p:spPr>
          <a:xfrm>
            <a:off x="10076688" y="5486400"/>
            <a:ext cx="2011680" cy="731520"/>
          </a:xfrm>
          <a:prstGeom prst="roundRect">
            <a:avLst>
              <a:gd name="adj" fmla="val 12000"/>
            </a:avLst>
          </a:prstGeom>
          <a:solidFill>
            <a:srgbClr val="FFFFFF"/>
          </a:solidFill>
          <a:ln w="25400">
            <a:solidFill>
              <a:srgbClr val="1F6F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a:solidFill>
                  <a:srgbClr val="1B263B"/>
                </a:solidFill>
                <a:latin typeface="Calibri"/>
              </a:rPr>
              <a:t>LLM MUTATION</a:t>
            </a:r>
          </a:p>
          <a:p>
            <a:pPr algn="ctr"/>
            <a:r>
              <a:rPr sz="1400" b="0">
                <a:solidFill>
                  <a:srgbClr val="1B263B"/>
                </a:solidFill>
                <a:latin typeface="Calibri"/>
              </a:rPr>
              <a:t>LLM generates only, never judges</a:t>
            </a:r>
          </a:p>
        </p:txBody>
      </p:sp>
      <p:cxnSp>
        <p:nvCxnSpPr>
          <p:cNvPr id="18" name="Connector 17"/>
          <p:cNvCxnSpPr>
            <a:stCxn id="7" idx="3"/>
            <a:endCxn id="8" idx="1"/>
          </p:cNvCxnSpPr>
          <p:nvPr/>
        </p:nvCxnSpPr>
        <p:spPr>
          <a:xfrm flipV="1">
            <a:off x="2395728" y="2034540"/>
            <a:ext cx="411480" cy="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8" idx="3"/>
            <a:endCxn id="9" idx="1"/>
          </p:cNvCxnSpPr>
          <p:nvPr/>
        </p:nvCxnSpPr>
        <p:spPr>
          <a:xfrm flipV="1">
            <a:off x="4818888" y="2034540"/>
            <a:ext cx="411480" cy="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9" idx="3"/>
            <a:endCxn id="10" idx="1"/>
          </p:cNvCxnSpPr>
          <p:nvPr/>
        </p:nvCxnSpPr>
        <p:spPr>
          <a:xfrm flipV="1">
            <a:off x="7242048" y="2034540"/>
            <a:ext cx="411480" cy="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a:stCxn id="10" idx="3"/>
            <a:endCxn id="11" idx="1"/>
          </p:cNvCxnSpPr>
          <p:nvPr/>
        </p:nvCxnSpPr>
        <p:spPr>
          <a:xfrm flipV="1">
            <a:off x="9665208" y="2034540"/>
            <a:ext cx="411480" cy="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a:stCxn id="11" idx="2"/>
            <a:endCxn id="13" idx="0"/>
          </p:cNvCxnSpPr>
          <p:nvPr/>
        </p:nvCxnSpPr>
        <p:spPr>
          <a:xfrm flipH="1">
            <a:off x="11082528" y="2743200"/>
            <a:ext cx="0" cy="36576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3" idx="1"/>
            <a:endCxn id="12" idx="3"/>
          </p:cNvCxnSpPr>
          <p:nvPr/>
        </p:nvCxnSpPr>
        <p:spPr>
          <a:xfrm flipH="1" flipV="1">
            <a:off x="9665208" y="3680460"/>
            <a:ext cx="411480" cy="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12" idx="0"/>
            <a:endCxn id="10" idx="2"/>
          </p:cNvCxnSpPr>
          <p:nvPr/>
        </p:nvCxnSpPr>
        <p:spPr>
          <a:xfrm flipH="1" flipV="1">
            <a:off x="8659368" y="2743200"/>
            <a:ext cx="0" cy="45720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a:stCxn id="13" idx="2"/>
            <a:endCxn id="14" idx="0"/>
          </p:cNvCxnSpPr>
          <p:nvPr/>
        </p:nvCxnSpPr>
        <p:spPr>
          <a:xfrm flipH="1">
            <a:off x="11082528" y="4251960"/>
            <a:ext cx="0" cy="27432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6" name="Connector 25"/>
          <p:cNvCxnSpPr>
            <a:stCxn id="14" idx="1"/>
            <a:endCxn id="15" idx="3"/>
          </p:cNvCxnSpPr>
          <p:nvPr/>
        </p:nvCxnSpPr>
        <p:spPr>
          <a:xfrm flipH="1">
            <a:off x="9665208" y="4869180"/>
            <a:ext cx="411480" cy="6858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a:stCxn id="15" idx="1"/>
            <a:endCxn id="16" idx="3"/>
          </p:cNvCxnSpPr>
          <p:nvPr/>
        </p:nvCxnSpPr>
        <p:spPr>
          <a:xfrm flipH="1" flipV="1">
            <a:off x="7242048" y="4869180"/>
            <a:ext cx="411480" cy="6858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14" idx="2"/>
            <a:endCxn id="17" idx="0"/>
          </p:cNvCxnSpPr>
          <p:nvPr/>
        </p:nvCxnSpPr>
        <p:spPr>
          <a:xfrm flipH="1">
            <a:off x="11082528" y="5212080"/>
            <a:ext cx="0" cy="274320"/>
          </a:xfrm>
          <a:prstGeom prst="line">
            <a:avLst/>
          </a:prstGeom>
          <a:ln w="25400">
            <a:solidFill>
              <a:srgbClr val="1B263B"/>
            </a:solidFill>
            <a:tailEnd type="triangle"/>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17" idx="1"/>
            <a:endCxn id="7" idx="2"/>
          </p:cNvCxnSpPr>
          <p:nvPr/>
        </p:nvCxnSpPr>
        <p:spPr>
          <a:xfrm flipH="1" flipV="1">
            <a:off x="1389888" y="2743200"/>
            <a:ext cx="8686800" cy="3108960"/>
          </a:xfrm>
          <a:prstGeom prst="bentConnector3">
            <a:avLst/>
          </a:prstGeom>
          <a:ln w="25400">
            <a:solidFill>
              <a:srgbClr val="1F6FB5"/>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619488" y="3291840"/>
            <a:ext cx="457200" cy="320040"/>
          </a:xfrm>
          <a:prstGeom prst="rect">
            <a:avLst/>
          </a:prstGeom>
          <a:noFill/>
        </p:spPr>
        <p:txBody>
          <a:bodyPr wrap="square" anchor="t" lIns="45720" rIns="45720">
            <a:spAutoFit/>
          </a:bodyPr>
          <a:lstStyle/>
          <a:p>
            <a:pPr algn="l"/>
            <a:r>
              <a:rPr sz="1400" b="1">
                <a:solidFill>
                  <a:srgbClr val="6B7280"/>
                </a:solidFill>
                <a:latin typeface="Calibri"/>
              </a:rPr>
              <a:t>No</a:t>
            </a:r>
          </a:p>
        </p:txBody>
      </p:sp>
      <p:sp>
        <p:nvSpPr>
          <p:cNvPr id="31" name="TextBox 30"/>
          <p:cNvSpPr txBox="1"/>
          <p:nvPr/>
        </p:nvSpPr>
        <p:spPr>
          <a:xfrm>
            <a:off x="11128248" y="4251960"/>
            <a:ext cx="548640" cy="320040"/>
          </a:xfrm>
          <a:prstGeom prst="rect">
            <a:avLst/>
          </a:prstGeom>
          <a:noFill/>
        </p:spPr>
        <p:txBody>
          <a:bodyPr wrap="square" anchor="t" lIns="45720" rIns="45720">
            <a:spAutoFit/>
          </a:bodyPr>
          <a:lstStyle/>
          <a:p>
            <a:pPr algn="l"/>
            <a:r>
              <a:rPr sz="1400" b="1">
                <a:solidFill>
                  <a:srgbClr val="6B7280"/>
                </a:solidFill>
                <a:latin typeface="Calibri"/>
              </a:rPr>
              <a:t>Yes</a:t>
            </a:r>
          </a:p>
        </p:txBody>
      </p:sp>
      <p:sp>
        <p:nvSpPr>
          <p:cNvPr id="32" name="Rounded Rectangle 31"/>
          <p:cNvSpPr/>
          <p:nvPr/>
        </p:nvSpPr>
        <p:spPr>
          <a:xfrm>
            <a:off x="2011680" y="3246120"/>
            <a:ext cx="320040" cy="228600"/>
          </a:xfrm>
          <a:prstGeom prst="round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395728" y="3200400"/>
            <a:ext cx="1737360" cy="320040"/>
          </a:xfrm>
          <a:prstGeom prst="rect">
            <a:avLst/>
          </a:prstGeom>
          <a:noFill/>
        </p:spPr>
        <p:txBody>
          <a:bodyPr wrap="square" anchor="t" lIns="45720" rIns="45720">
            <a:spAutoFit/>
          </a:bodyPr>
          <a:lstStyle/>
          <a:p>
            <a:pPr algn="l"/>
            <a:r>
              <a:rPr sz="1400" b="0">
                <a:solidFill>
                  <a:srgbClr val="1B263B"/>
                </a:solidFill>
                <a:latin typeface="Calibri"/>
              </a:rPr>
              <a:t>Deterministic</a:t>
            </a:r>
          </a:p>
        </p:txBody>
      </p:sp>
      <p:sp>
        <p:nvSpPr>
          <p:cNvPr id="34" name="Rounded Rectangle 33"/>
          <p:cNvSpPr/>
          <p:nvPr/>
        </p:nvSpPr>
        <p:spPr>
          <a:xfrm>
            <a:off x="2011680" y="3657600"/>
            <a:ext cx="320040" cy="228600"/>
          </a:xfrm>
          <a:prstGeom prst="roundRect">
            <a:avLst/>
          </a:prstGeom>
          <a:solidFill>
            <a:srgbClr val="FFFFFF"/>
          </a:solidFill>
          <a:ln w="19050">
            <a:solidFill>
              <a:srgbClr val="1F6FB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395728" y="3611880"/>
            <a:ext cx="1737360" cy="320040"/>
          </a:xfrm>
          <a:prstGeom prst="rect">
            <a:avLst/>
          </a:prstGeom>
          <a:noFill/>
        </p:spPr>
        <p:txBody>
          <a:bodyPr wrap="square" anchor="t" lIns="45720" rIns="45720">
            <a:spAutoFit/>
          </a:bodyPr>
          <a:lstStyle/>
          <a:p>
            <a:pPr algn="l"/>
            <a:r>
              <a:rPr sz="1400" b="0">
                <a:solidFill>
                  <a:srgbClr val="1B263B"/>
                </a:solidFill>
                <a:latin typeface="Calibri"/>
              </a:rPr>
              <a:t>LLM (dashed)</a:t>
            </a:r>
          </a:p>
        </p:txBody>
      </p:sp>
      <p:sp>
        <p:nvSpPr>
          <p:cNvPr id="36" name="Rounded Rectangle 35"/>
          <p:cNvSpPr/>
          <p:nvPr/>
        </p:nvSpPr>
        <p:spPr>
          <a:xfrm>
            <a:off x="2011680" y="4069080"/>
            <a:ext cx="320040" cy="228600"/>
          </a:xfrm>
          <a:prstGeom prst="roundRect">
            <a:avLst/>
          </a:prstGeom>
          <a:solidFill>
            <a:srgbClr val="E9ECF1"/>
          </a:solidFill>
          <a:ln w="19050">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395728" y="4023360"/>
            <a:ext cx="1737360" cy="320040"/>
          </a:xfrm>
          <a:prstGeom prst="rect">
            <a:avLst/>
          </a:prstGeom>
          <a:noFill/>
        </p:spPr>
        <p:txBody>
          <a:bodyPr wrap="square" anchor="t" lIns="45720" rIns="45720">
            <a:spAutoFit/>
          </a:bodyPr>
          <a:lstStyle/>
          <a:p>
            <a:pPr algn="l"/>
            <a:r>
              <a:rPr sz="1400" b="0">
                <a:solidFill>
                  <a:srgbClr val="1B263B"/>
                </a:solidFill>
                <a:latin typeface="Calibri"/>
              </a:rPr>
              <a:t>Human</a:t>
            </a:r>
          </a:p>
        </p:txBody>
      </p:sp>
      <p:sp>
        <p:nvSpPr>
          <p:cNvPr id="38" name="TextBox 37"/>
          <p:cNvSpPr txBox="1"/>
          <p:nvPr/>
        </p:nvSpPr>
        <p:spPr>
          <a:xfrm>
            <a:off x="2011680" y="4434840"/>
            <a:ext cx="2926080" cy="548640"/>
          </a:xfrm>
          <a:prstGeom prst="rect">
            <a:avLst/>
          </a:prstGeom>
          <a:noFill/>
        </p:spPr>
        <p:txBody>
          <a:bodyPr wrap="square" anchor="t" lIns="45720" rIns="45720">
            <a:spAutoFit/>
          </a:bodyPr>
          <a:lstStyle/>
          <a:p>
            <a:pPr algn="l"/>
            <a:r>
              <a:rPr sz="1400" b="0">
                <a:solidFill>
                  <a:srgbClr val="6B7280"/>
                </a:solidFill>
                <a:latin typeface="Calibri"/>
              </a:rPr>
              <a:t>Dashed arrow: fuzzing loop back to inputs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11535" cy="685800"/>
          </a:xfrm>
          <a:prstGeom prst="rect">
            <a:avLst/>
          </a:prstGeom>
          <a:noFill/>
        </p:spPr>
        <p:txBody>
          <a:bodyPr wrap="square" anchor="ctr" lIns="45720" rIns="45720">
            <a:spAutoFit/>
          </a:bodyPr>
          <a:lstStyle/>
          <a:p>
            <a:pPr algn="l"/>
            <a:r>
              <a:rPr sz="3400" b="1">
                <a:solidFill>
                  <a:srgbClr val="1B263B"/>
                </a:solidFill>
                <a:latin typeface="Calibri"/>
              </a:rPr>
              <a:t>Expected outcomes</a:t>
            </a:r>
          </a:p>
        </p:txBody>
      </p:sp>
      <p:sp>
        <p:nvSpPr>
          <p:cNvPr id="3" name="Rectangle 2"/>
          <p:cNvSpPr/>
          <p:nvPr/>
        </p:nvSpPr>
        <p:spPr>
          <a:xfrm>
            <a:off x="685800" y="1051560"/>
            <a:ext cx="822960" cy="54864"/>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6400800"/>
            <a:ext cx="10865815" cy="9144"/>
          </a:xfrm>
          <a:prstGeom prst="rect">
            <a:avLst/>
          </a:prstGeom>
          <a:solidFill>
            <a:srgbClr val="C9C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28232"/>
            <a:ext cx="3657600" cy="320040"/>
          </a:xfrm>
          <a:prstGeom prst="rect">
            <a:avLst/>
          </a:prstGeom>
          <a:noFill/>
        </p:spPr>
        <p:txBody>
          <a:bodyPr wrap="square" anchor="t" lIns="45720" rIns="45720">
            <a:spAutoFit/>
          </a:bodyPr>
          <a:lstStyle/>
          <a:p>
            <a:pPr algn="l"/>
            <a:r>
              <a:rPr sz="1200" b="0">
                <a:solidFill>
                  <a:srgbClr val="6B7280"/>
                </a:solidFill>
                <a:latin typeface="Calibri"/>
              </a:rPr>
              <a:t>typediff</a:t>
            </a:r>
          </a:p>
        </p:txBody>
      </p:sp>
      <p:sp>
        <p:nvSpPr>
          <p:cNvPr id="6" name="TextBox 5"/>
          <p:cNvSpPr txBox="1"/>
          <p:nvPr/>
        </p:nvSpPr>
        <p:spPr>
          <a:xfrm>
            <a:off x="10637215" y="6428232"/>
            <a:ext cx="914400" cy="320040"/>
          </a:xfrm>
          <a:prstGeom prst="rect">
            <a:avLst/>
          </a:prstGeom>
          <a:noFill/>
        </p:spPr>
        <p:txBody>
          <a:bodyPr wrap="square" anchor="t" lIns="45720" rIns="45720">
            <a:spAutoFit/>
          </a:bodyPr>
          <a:lstStyle/>
          <a:p>
            <a:pPr algn="r"/>
            <a:r>
              <a:rPr sz="1200" b="0">
                <a:solidFill>
                  <a:srgbClr val="6B7280"/>
                </a:solidFill>
                <a:latin typeface="Calibri"/>
              </a:rPr>
              <a:t>5</a:t>
            </a:r>
          </a:p>
        </p:txBody>
      </p:sp>
      <p:sp>
        <p:nvSpPr>
          <p:cNvPr id="7" name="Oval 6"/>
          <p:cNvSpPr/>
          <p:nvPr/>
        </p:nvSpPr>
        <p:spPr>
          <a:xfrm>
            <a:off x="685800" y="160020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600" b="1">
                <a:solidFill>
                  <a:srgbClr val="FFFFFF"/>
                </a:solidFill>
                <a:latin typeface="Calibri"/>
              </a:rPr>
              <a:t>1</a:t>
            </a:r>
          </a:p>
        </p:txBody>
      </p:sp>
      <p:sp>
        <p:nvSpPr>
          <p:cNvPr id="8" name="TextBox 7"/>
          <p:cNvSpPr txBox="1"/>
          <p:nvPr/>
        </p:nvSpPr>
        <p:spPr>
          <a:xfrm>
            <a:off x="1645920" y="1463040"/>
            <a:ext cx="3017520" cy="914400"/>
          </a:xfrm>
          <a:prstGeom prst="rect">
            <a:avLst/>
          </a:prstGeom>
          <a:noFill/>
        </p:spPr>
        <p:txBody>
          <a:bodyPr wrap="square" anchor="ctr" lIns="45720" rIns="45720">
            <a:spAutoFit/>
          </a:bodyPr>
          <a:lstStyle/>
          <a:p>
            <a:pPr algn="l"/>
            <a:r>
              <a:rPr sz="2400" b="1">
                <a:solidFill>
                  <a:srgbClr val="1B263B"/>
                </a:solidFill>
                <a:latin typeface="Calibri"/>
              </a:rPr>
              <a:t>New, confirmed bugs</a:t>
            </a:r>
          </a:p>
        </p:txBody>
      </p:sp>
      <p:sp>
        <p:nvSpPr>
          <p:cNvPr id="9" name="TextBox 8"/>
          <p:cNvSpPr txBox="1"/>
          <p:nvPr/>
        </p:nvSpPr>
        <p:spPr>
          <a:xfrm>
            <a:off x="4754880" y="1463040"/>
            <a:ext cx="6796735" cy="914400"/>
          </a:xfrm>
          <a:prstGeom prst="rect">
            <a:avLst/>
          </a:prstGeom>
          <a:noFill/>
        </p:spPr>
        <p:txBody>
          <a:bodyPr wrap="square" anchor="ctr" lIns="45720" rIns="45720">
            <a:spAutoFit/>
          </a:bodyPr>
          <a:lstStyle/>
          <a:p>
            <a:pPr algn="l"/>
            <a:r>
              <a:rPr sz="1800" b="0">
                <a:solidFill>
                  <a:srgbClr val="1B263B"/>
                </a:solidFill>
                <a:latin typeface="Calibri"/>
              </a:rPr>
              <a:t>Reportable bugs in ty (and mypy): minimal repros filed upstream with spec references, checked against the trackers for duplicates.</a:t>
            </a:r>
          </a:p>
        </p:txBody>
      </p:sp>
      <p:sp>
        <p:nvSpPr>
          <p:cNvPr id="10" name="Oval 9"/>
          <p:cNvSpPr/>
          <p:nvPr/>
        </p:nvSpPr>
        <p:spPr>
          <a:xfrm>
            <a:off x="685800" y="278892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600" b="1">
                <a:solidFill>
                  <a:srgbClr val="FFFFFF"/>
                </a:solidFill>
                <a:latin typeface="Calibri"/>
              </a:rPr>
              <a:t>2</a:t>
            </a:r>
          </a:p>
        </p:txBody>
      </p:sp>
      <p:sp>
        <p:nvSpPr>
          <p:cNvPr id="11" name="TextBox 10"/>
          <p:cNvSpPr txBox="1"/>
          <p:nvPr/>
        </p:nvSpPr>
        <p:spPr>
          <a:xfrm>
            <a:off x="1645920" y="2651760"/>
            <a:ext cx="3017520" cy="914400"/>
          </a:xfrm>
          <a:prstGeom prst="rect">
            <a:avLst/>
          </a:prstGeom>
          <a:noFill/>
        </p:spPr>
        <p:txBody>
          <a:bodyPr wrap="square" anchor="ctr" lIns="45720" rIns="45720">
            <a:spAutoFit/>
          </a:bodyPr>
          <a:lstStyle/>
          <a:p>
            <a:pPr algn="l"/>
            <a:r>
              <a:rPr sz="2400" b="1">
                <a:solidFill>
                  <a:srgbClr val="1B263B"/>
                </a:solidFill>
                <a:latin typeface="Calibri"/>
              </a:rPr>
              <a:t>A discrepancy dataset</a:t>
            </a:r>
          </a:p>
        </p:txBody>
      </p:sp>
      <p:sp>
        <p:nvSpPr>
          <p:cNvPr id="12" name="TextBox 11"/>
          <p:cNvSpPr txBox="1"/>
          <p:nvPr/>
        </p:nvSpPr>
        <p:spPr>
          <a:xfrm>
            <a:off x="4754880" y="2651760"/>
            <a:ext cx="6796735" cy="914400"/>
          </a:xfrm>
          <a:prstGeom prst="rect">
            <a:avLst/>
          </a:prstGeom>
          <a:noFill/>
        </p:spPr>
        <p:txBody>
          <a:bodyPr wrap="square" anchor="ctr" lIns="45720" rIns="45720">
            <a:spAutoFit/>
          </a:bodyPr>
          <a:lstStyle/>
          <a:p>
            <a:pPr algn="l"/>
            <a:r>
              <a:rPr sz="1800" b="0">
                <a:solidFill>
                  <a:srgbClr val="1B263B"/>
                </a:solidFill>
                <a:latin typeface="Calibri"/>
              </a:rPr>
              <a:t>Disagreements classified as real bug, intended, known or harness noise, with evidence, reusable by others.</a:t>
            </a:r>
          </a:p>
        </p:txBody>
      </p:sp>
      <p:sp>
        <p:nvSpPr>
          <p:cNvPr id="13" name="Oval 12"/>
          <p:cNvSpPr/>
          <p:nvPr/>
        </p:nvSpPr>
        <p:spPr>
          <a:xfrm>
            <a:off x="685800" y="3977640"/>
            <a:ext cx="640080" cy="640080"/>
          </a:xfrm>
          <a:prstGeom prst="ellipse">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2600" b="1">
                <a:solidFill>
                  <a:srgbClr val="FFFFFF"/>
                </a:solidFill>
                <a:latin typeface="Calibri"/>
              </a:rPr>
              <a:t>3</a:t>
            </a:r>
          </a:p>
        </p:txBody>
      </p:sp>
      <p:sp>
        <p:nvSpPr>
          <p:cNvPr id="14" name="TextBox 13"/>
          <p:cNvSpPr txBox="1"/>
          <p:nvPr/>
        </p:nvSpPr>
        <p:spPr>
          <a:xfrm>
            <a:off x="1645920" y="3840480"/>
            <a:ext cx="3017520" cy="914400"/>
          </a:xfrm>
          <a:prstGeom prst="rect">
            <a:avLst/>
          </a:prstGeom>
          <a:noFill/>
        </p:spPr>
        <p:txBody>
          <a:bodyPr wrap="square" anchor="ctr" lIns="45720" rIns="45720">
            <a:spAutoFit/>
          </a:bodyPr>
          <a:lstStyle/>
          <a:p>
            <a:pPr algn="l"/>
            <a:r>
              <a:rPr sz="2400" b="1">
                <a:solidFill>
                  <a:srgbClr val="1B263B"/>
                </a:solidFill>
                <a:latin typeface="Calibri"/>
              </a:rPr>
              <a:t>A reusable pipeline</a:t>
            </a:r>
          </a:p>
        </p:txBody>
      </p:sp>
      <p:sp>
        <p:nvSpPr>
          <p:cNvPr id="15" name="TextBox 14"/>
          <p:cNvSpPr txBox="1"/>
          <p:nvPr/>
        </p:nvSpPr>
        <p:spPr>
          <a:xfrm>
            <a:off x="4754880" y="3840480"/>
            <a:ext cx="6796735" cy="914400"/>
          </a:xfrm>
          <a:prstGeom prst="rect">
            <a:avLst/>
          </a:prstGeom>
          <a:noFill/>
        </p:spPr>
        <p:txBody>
          <a:bodyPr wrap="square" anchor="ctr" lIns="45720" rIns="45720">
            <a:spAutoFit/>
          </a:bodyPr>
          <a:lstStyle/>
          <a:p>
            <a:pPr algn="l"/>
            <a:r>
              <a:rPr sz="1800" b="0">
                <a:solidFill>
                  <a:srgbClr val="1B263B"/>
                </a:solidFill>
                <a:latin typeface="Calibri"/>
              </a:rPr>
              <a:t>Knowledge base and triage discard known differences cheaply, so humans review only real candidates. Funnel numbers: programs, disagreements, candidates, confirmed, filed.</a:t>
            </a:r>
          </a:p>
        </p:txBody>
      </p:sp>
      <p:sp>
        <p:nvSpPr>
          <p:cNvPr id="16" name="Rectangle 15"/>
          <p:cNvSpPr/>
          <p:nvPr/>
        </p:nvSpPr>
        <p:spPr>
          <a:xfrm>
            <a:off x="685800" y="5212080"/>
            <a:ext cx="10865815" cy="822960"/>
          </a:xfrm>
          <a:prstGeom prst="rect">
            <a:avLst/>
          </a:prstGeom>
          <a:solidFill>
            <a:srgbClr val="E9EC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5212080"/>
            <a:ext cx="73152" cy="822960"/>
          </a:xfrm>
          <a:prstGeom prst="rect">
            <a:avLst/>
          </a:prstGeom>
          <a:solidFill>
            <a:srgbClr val="1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212080"/>
            <a:ext cx="10454335" cy="822960"/>
          </a:xfrm>
          <a:prstGeom prst="rect">
            <a:avLst/>
          </a:prstGeom>
          <a:noFill/>
        </p:spPr>
        <p:txBody>
          <a:bodyPr wrap="square" anchor="ctr" lIns="45720" rIns="45720">
            <a:spAutoFit/>
          </a:bodyPr>
          <a:lstStyle/>
          <a:p>
            <a:pPr algn="l"/>
            <a:r>
              <a:rPr sz="1800" b="1">
                <a:solidFill>
                  <a:srgbClr val="1F6FB5"/>
                </a:solidFill>
                <a:latin typeface="Calibri"/>
              </a:rPr>
              <a:t>Status so far: </a:t>
            </a:r>
          </a:p>
        </p:txBody>
      </p:sp>
      <p:sp>
        <p:nvSpPr>
          <p:cNvPr id="19" name="TextBox 18"/>
          <p:cNvSpPr txBox="1"/>
          <p:nvPr/>
        </p:nvSpPr>
        <p:spPr>
          <a:xfrm>
            <a:off x="2651760" y="5212080"/>
            <a:ext cx="8716975" cy="822960"/>
          </a:xfrm>
          <a:prstGeom prst="rect">
            <a:avLst/>
          </a:prstGeom>
          <a:noFill/>
        </p:spPr>
        <p:txBody>
          <a:bodyPr wrap="square" anchor="ctr" lIns="45720" rIns="45720">
            <a:spAutoFit/>
          </a:bodyPr>
          <a:lstStyle/>
          <a:p>
            <a:pPr algn="l"/>
            <a:r>
              <a:rPr sz="1800" b="0">
                <a:solidFill>
                  <a:srgbClr val="1B263B"/>
                </a:solidFill>
                <a:latin typeface="Calibri"/>
              </a:rPr>
              <a:t>pipeline built, first corpus of 4,849 programs run, triage and fixes in progress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