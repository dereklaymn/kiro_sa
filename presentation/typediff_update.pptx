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we are Anay, Ajay and Aarsh. This is a progress update on typediff, our project on differential fuzzing of Python type checkers. We compare ty, mypy and pyright on the same programs and look for disagreements. Over the next few minutes we will cover the problem, why we picked it, our pipeline, and what we expect to deliver.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has a typing specification, and mypy, pyright and ty all claim to follow it. In practice they disagree on many programs, and the spec is vague in some places. Some of those disagreements are real bugs, but most are deliberate choices or known issues. Checking them by hand does not scale, so we built a pipeline that runs several checkers plus CPython, filters the known differences automatically, and leaves only the few that are worth reporting.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checkers sit in editors, in CI and increasingly in AI coding loops, so a wrong answer quietly affects a lot of people. ty is a new Rust checker from Astral, the Ruff and uv team, who are now part of OpenAI according to one 2026 guide. Astral reports it is roughly 10 to 60 times faster than mypy and Pyright, so adoption is growing fast. But it is still in beta, and a third-party comparison says it lags on spec coverage. One project, pydantic-ai, saw 337 of 417 diagnostics were false positives. Differential testing fits well because the other checkers and CPython act as oracles, so we need no hand-written expected answers.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full pipeline. Inputs are 27 hand-written seeds, about 4,849 harvested programs, and LLM-generated variants. We run mypy, ty and pyright with pinned versions plus real CPython as ground truth, then normalise and compare the outputs. An auto-filter with a knowledge base drops known or intended differences. What remains goes to a review queue grouped by pattern. If it is not a real candidate, we add a knowledge base or harness rule. If it is, the LLM only generates new variants that feed back into the inputs, and we verify against the spec, CPython and the trackers before filing upstream.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plan as six stages. Setup is done: tools are pinned, the docs corpus is in and the knowledge base passes its self-test. We are now in stage two, running the hand-written and harvested seeds and triaging the findings into patterns. Next the LLM mutates promising hits, then generates new programs for under-covered areas and hunts crashes, and every result is judged deterministically. Then we judge and file: spec rule, CPython as oracle, duplicate search and a minimal repro, one issue per root cause. The last stage is the write-up. Three principles run through it: free LLMs generate but never judge, we judge patterns rather than single findings, and we search trackers before filing. The LLM budget is about 20 dollars in total.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is done so far. The pipeline works end to end: it runs mypy, ty, pyright and CPython, compares them, filters known differences with a knowledge base and groups the rest into patterns. Our first probe, a hand-written Self seed, became ty issue 4656. The maintainers closed it as intended behaviour, and a related display bug is ty 4673, so we learned to argue the other tool's side before filing. The corpus is 27 hand-written seeds plus 4,849 harvested programs. The first full run gave 7,480 findings in 618 patterns, with no LLM involved. We triaged the top five patterns and all were harness noise or design differences, so no confirmed bug yet. That exposed a misleading evidence flag, and we fixed it along with several other pipeline issues, and 81 tests pass. A re-run on the fixed pipeline is in progress, so we have no results from it to show today.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expect three things. First, new confirmed bugs in ty and possibly mypy, each with a minimal repro and a spec reference, checked against the trackers so we do not file duplicates. Second, a documented dataset of disagreements, labelled as real bug, intended, known or noise, with evidence. Third, a reusable pipeline that cheaply discards known differences so humans only look at real candidates, with measured funnel numbers. We are not promising a specific number of bugs. The status of all this is on the updates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stral.sh/blog/ty" TargetMode="External"/><Relationship Id="rId3" Type="http://schemas.openxmlformats.org/officeDocument/2006/relationships/hyperlink" Target="https://pydevtools.com/handbook/explanation/ty-complete-guide/" TargetMode="External"/><Relationship Id="rId4" Type="http://schemas.openxmlformats.org/officeDocument/2006/relationships/hyperlink" Target="https://github.com/jlevy/simple-modern-uv/blob/main/docs/project/research/research-python-type-checkers.md" TargetMode="External"/><Relationship Id="rId5" Type="http://schemas.openxmlformats.org/officeDocument/2006/relationships/hyperlink" Target="https://github.com/pydantic/pydantic-ai/issues/3970" TargetMode="Externa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554480"/>
            <a:ext cx="9601200" cy="1371600"/>
          </a:xfrm>
          <a:prstGeom prst="rect">
            <a:avLst/>
          </a:prstGeom>
          <a:noFill/>
        </p:spPr>
        <p:txBody>
          <a:bodyPr wrap="square" anchor="b" lIns="45720" rIns="45720">
            <a:spAutoFit/>
          </a:bodyPr>
          <a:lstStyle/>
          <a:p>
            <a:pPr algn="l"/>
            <a:r>
              <a:rPr sz="8000" b="1">
                <a:solidFill>
                  <a:srgbClr val="1B263B"/>
                </a:solidFill>
                <a:latin typeface="Calibri"/>
              </a:rPr>
              <a:t>typediff</a:t>
            </a:r>
          </a:p>
        </p:txBody>
      </p:sp>
      <p:sp>
        <p:nvSpPr>
          <p:cNvPr id="4" name="Rectangle 3"/>
          <p:cNvSpPr/>
          <p:nvPr/>
        </p:nvSpPr>
        <p:spPr>
          <a:xfrm>
            <a:off x="1143000" y="3017520"/>
            <a:ext cx="1280160" cy="64008"/>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246120"/>
            <a:ext cx="10058400" cy="1005840"/>
          </a:xfrm>
          <a:prstGeom prst="rect">
            <a:avLst/>
          </a:prstGeom>
          <a:noFill/>
        </p:spPr>
        <p:txBody>
          <a:bodyPr wrap="square" anchor="t" lIns="45720" rIns="45720">
            <a:spAutoFit/>
          </a:bodyPr>
          <a:lstStyle/>
          <a:p>
            <a:pPr algn="l"/>
            <a:r>
              <a:rPr sz="2800" b="0">
                <a:solidFill>
                  <a:srgbClr val="1B263B"/>
                </a:solidFill>
                <a:latin typeface="Calibri"/>
              </a:rPr>
              <a:t>Differential fuzzing of Python type checkers (ty vs mypy vs pyright)</a:t>
            </a:r>
          </a:p>
        </p:txBody>
      </p:sp>
      <p:sp>
        <p:nvSpPr>
          <p:cNvPr id="6" name="TextBox 5"/>
          <p:cNvSpPr txBox="1"/>
          <p:nvPr/>
        </p:nvSpPr>
        <p:spPr>
          <a:xfrm>
            <a:off x="1097280" y="4206240"/>
            <a:ext cx="7315200" cy="457200"/>
          </a:xfrm>
          <a:prstGeom prst="rect">
            <a:avLst/>
          </a:prstGeom>
          <a:noFill/>
        </p:spPr>
        <p:txBody>
          <a:bodyPr wrap="square" anchor="t" lIns="45720" rIns="45720">
            <a:spAutoFit/>
          </a:bodyPr>
          <a:lstStyle/>
          <a:p>
            <a:pPr algn="l"/>
            <a:r>
              <a:rPr sz="2000" b="1">
                <a:solidFill>
                  <a:srgbClr val="1F6FB5"/>
                </a:solidFill>
                <a:latin typeface="Calibri"/>
              </a:rPr>
              <a:t>Project progress update</a:t>
            </a:r>
          </a:p>
        </p:txBody>
      </p:sp>
      <p:sp>
        <p:nvSpPr>
          <p:cNvPr id="7" name="Rectangle 6"/>
          <p:cNvSpPr/>
          <p:nvPr/>
        </p:nvSpPr>
        <p:spPr>
          <a:xfrm>
            <a:off x="1143000" y="5257800"/>
            <a:ext cx="36576" cy="548640"/>
          </a:xfrm>
          <a:prstGeom prst="rect">
            <a:avLst/>
          </a:prstGeom>
          <a:solidFill>
            <a:srgbClr val="C9C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5257800"/>
            <a:ext cx="2834640" cy="548640"/>
          </a:xfrm>
          <a:prstGeom prst="rect">
            <a:avLst/>
          </a:prstGeom>
          <a:noFill/>
        </p:spPr>
        <p:txBody>
          <a:bodyPr wrap="square" anchor="ctr" lIns="45720" rIns="45720">
            <a:spAutoFit/>
          </a:bodyPr>
          <a:lstStyle/>
          <a:p>
            <a:pPr algn="l"/>
            <a:r>
              <a:rPr sz="2200" b="1">
                <a:solidFill>
                  <a:srgbClr val="1B263B"/>
                </a:solidFill>
                <a:latin typeface="Calibri"/>
              </a:rPr>
              <a:t>Anay Gupta</a:t>
            </a:r>
          </a:p>
        </p:txBody>
      </p:sp>
      <p:sp>
        <p:nvSpPr>
          <p:cNvPr id="9" name="Rectangle 8"/>
          <p:cNvSpPr/>
          <p:nvPr/>
        </p:nvSpPr>
        <p:spPr>
          <a:xfrm>
            <a:off x="4251960" y="5257800"/>
            <a:ext cx="36576" cy="548640"/>
          </a:xfrm>
          <a:prstGeom prst="rect">
            <a:avLst/>
          </a:prstGeom>
          <a:solidFill>
            <a:srgbClr val="C9C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0" y="5257800"/>
            <a:ext cx="2834640" cy="548640"/>
          </a:xfrm>
          <a:prstGeom prst="rect">
            <a:avLst/>
          </a:prstGeom>
          <a:noFill/>
        </p:spPr>
        <p:txBody>
          <a:bodyPr wrap="square" anchor="ctr" lIns="45720" rIns="45720">
            <a:spAutoFit/>
          </a:bodyPr>
          <a:lstStyle/>
          <a:p>
            <a:pPr algn="l"/>
            <a:r>
              <a:rPr sz="2200" b="1">
                <a:solidFill>
                  <a:srgbClr val="1B263B"/>
                </a:solidFill>
                <a:latin typeface="Calibri"/>
              </a:rPr>
              <a:t>Ajay Meena</a:t>
            </a:r>
          </a:p>
        </p:txBody>
      </p:sp>
      <p:sp>
        <p:nvSpPr>
          <p:cNvPr id="11" name="Rectangle 10"/>
          <p:cNvSpPr/>
          <p:nvPr/>
        </p:nvSpPr>
        <p:spPr>
          <a:xfrm>
            <a:off x="7360920" y="5257800"/>
            <a:ext cx="36576" cy="548640"/>
          </a:xfrm>
          <a:prstGeom prst="rect">
            <a:avLst/>
          </a:prstGeom>
          <a:solidFill>
            <a:srgbClr val="C9C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0" y="5257800"/>
            <a:ext cx="2834640" cy="548640"/>
          </a:xfrm>
          <a:prstGeom prst="rect">
            <a:avLst/>
          </a:prstGeom>
          <a:noFill/>
        </p:spPr>
        <p:txBody>
          <a:bodyPr wrap="square" anchor="ctr" lIns="45720" rIns="45720">
            <a:spAutoFit/>
          </a:bodyPr>
          <a:lstStyle/>
          <a:p>
            <a:pPr algn="l"/>
            <a:r>
              <a:rPr sz="2200" b="1">
                <a:solidFill>
                  <a:srgbClr val="1B263B"/>
                </a:solidFill>
                <a:latin typeface="Calibri"/>
              </a:rPr>
              <a:t>Aarsh Verma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685800"/>
          </a:xfrm>
          <a:prstGeom prst="rect">
            <a:avLst/>
          </a:prstGeom>
          <a:noFill/>
        </p:spPr>
        <p:txBody>
          <a:bodyPr wrap="square" anchor="ctr" lIns="45720" rIns="45720">
            <a:spAutoFit/>
          </a:bodyPr>
          <a:lstStyle/>
          <a:p>
            <a:pPr algn="l"/>
            <a:r>
              <a:rPr sz="3400" b="1">
                <a:solidFill>
                  <a:srgbClr val="1B263B"/>
                </a:solidFill>
                <a:latin typeface="Calibri"/>
              </a:rPr>
              <a:t>Problem statement</a:t>
            </a:r>
          </a:p>
        </p:txBody>
      </p:sp>
      <p:sp>
        <p:nvSpPr>
          <p:cNvPr id="3" name="Rectangle 2"/>
          <p:cNvSpPr/>
          <p:nvPr/>
        </p:nvSpPr>
        <p:spPr>
          <a:xfrm>
            <a:off x="685800" y="1051560"/>
            <a:ext cx="822960" cy="54864"/>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00800"/>
            <a:ext cx="10865815" cy="9144"/>
          </a:xfrm>
          <a:prstGeom prst="rect">
            <a:avLst/>
          </a:prstGeom>
          <a:solidFill>
            <a:srgbClr val="C9C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28232"/>
            <a:ext cx="3657600" cy="320040"/>
          </a:xfrm>
          <a:prstGeom prst="rect">
            <a:avLst/>
          </a:prstGeom>
          <a:noFill/>
        </p:spPr>
        <p:txBody>
          <a:bodyPr wrap="square" anchor="t" lIns="45720" rIns="45720">
            <a:spAutoFit/>
          </a:bodyPr>
          <a:lstStyle/>
          <a:p>
            <a:pPr algn="l"/>
            <a:r>
              <a:rPr sz="1200" b="0">
                <a:solidFill>
                  <a:srgbClr val="6B7280"/>
                </a:solidFill>
                <a:latin typeface="Calibri"/>
              </a:rPr>
              <a:t>typediff</a:t>
            </a:r>
          </a:p>
        </p:txBody>
      </p:sp>
      <p:sp>
        <p:nvSpPr>
          <p:cNvPr id="6" name="TextBox 5"/>
          <p:cNvSpPr txBox="1"/>
          <p:nvPr/>
        </p:nvSpPr>
        <p:spPr>
          <a:xfrm>
            <a:off x="10637215" y="6428232"/>
            <a:ext cx="914400" cy="320040"/>
          </a:xfrm>
          <a:prstGeom prst="rect">
            <a:avLst/>
          </a:prstGeom>
          <a:noFill/>
        </p:spPr>
        <p:txBody>
          <a:bodyPr wrap="square" anchor="t" lIns="45720" rIns="45720">
            <a:spAutoFit/>
          </a:bodyPr>
          <a:lstStyle/>
          <a:p>
            <a:pPr algn="r"/>
            <a:r>
              <a:rPr sz="1200" b="0">
                <a:solidFill>
                  <a:srgbClr val="6B7280"/>
                </a:solidFill>
                <a:latin typeface="Calibri"/>
              </a:rPr>
              <a:t>2</a:t>
            </a:r>
          </a:p>
        </p:txBody>
      </p:sp>
      <p:sp>
        <p:nvSpPr>
          <p:cNvPr id="7" name="TextBox 6"/>
          <p:cNvSpPr txBox="1"/>
          <p:nvPr/>
        </p:nvSpPr>
        <p:spPr>
          <a:xfrm>
            <a:off x="640080" y="1371600"/>
            <a:ext cx="10911535" cy="1097280"/>
          </a:xfrm>
          <a:prstGeom prst="rect">
            <a:avLst/>
          </a:prstGeom>
          <a:noFill/>
        </p:spPr>
        <p:txBody>
          <a:bodyPr wrap="square" anchor="t" lIns="45720" rIns="45720">
            <a:spAutoFit/>
          </a:bodyPr>
          <a:lstStyle/>
          <a:p>
            <a:pPr algn="l"/>
            <a:r>
              <a:rPr sz="2400" b="0">
                <a:solidFill>
                  <a:srgbClr val="1B263B"/>
                </a:solidFill>
                <a:latin typeface="Calibri"/>
              </a:rPr>
              <a:t>Python type checkers should follow one typing specification, but they often disagree on the same program. We find which disagreements are real bugs.</a:t>
            </a:r>
          </a:p>
        </p:txBody>
      </p:sp>
      <p:sp>
        <p:nvSpPr>
          <p:cNvPr id="8" name="Rectangle 7"/>
          <p:cNvSpPr/>
          <p:nvPr/>
        </p:nvSpPr>
        <p:spPr>
          <a:xfrm>
            <a:off x="685800" y="2834640"/>
            <a:ext cx="54864" cy="914400"/>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34640"/>
            <a:ext cx="2377440" cy="914400"/>
          </a:xfrm>
          <a:prstGeom prst="rect">
            <a:avLst/>
          </a:prstGeom>
          <a:noFill/>
        </p:spPr>
        <p:txBody>
          <a:bodyPr wrap="square" anchor="ctr" lIns="45720" rIns="45720">
            <a:spAutoFit/>
          </a:bodyPr>
          <a:lstStyle/>
          <a:p>
            <a:pPr algn="l"/>
            <a:r>
              <a:rPr sz="2200" b="1">
                <a:solidFill>
                  <a:srgbClr val="1F6FB5"/>
                </a:solidFill>
                <a:latin typeface="Calibri"/>
              </a:rPr>
              <a:t>Problem</a:t>
            </a:r>
          </a:p>
        </p:txBody>
      </p:sp>
      <p:sp>
        <p:nvSpPr>
          <p:cNvPr id="10" name="TextBox 9"/>
          <p:cNvSpPr txBox="1"/>
          <p:nvPr/>
        </p:nvSpPr>
        <p:spPr>
          <a:xfrm>
            <a:off x="3383280" y="2834640"/>
            <a:ext cx="8168335" cy="914400"/>
          </a:xfrm>
          <a:prstGeom prst="rect">
            <a:avLst/>
          </a:prstGeom>
          <a:noFill/>
        </p:spPr>
        <p:txBody>
          <a:bodyPr wrap="square" anchor="ctr" lIns="45720" rIns="45720">
            <a:spAutoFit/>
          </a:bodyPr>
          <a:lstStyle/>
          <a:p>
            <a:pPr algn="l"/>
            <a:r>
              <a:rPr sz="1800" b="0">
                <a:solidFill>
                  <a:srgbClr val="1B263B"/>
                </a:solidFill>
                <a:latin typeface="Calibri"/>
              </a:rPr>
              <a:t>mypy, pyright and the new Rust-based ty disagree on many programs, and the spec itself is incomplete in places.</a:t>
            </a:r>
          </a:p>
        </p:txBody>
      </p:sp>
      <p:sp>
        <p:nvSpPr>
          <p:cNvPr id="11" name="Rectangle 10"/>
          <p:cNvSpPr/>
          <p:nvPr/>
        </p:nvSpPr>
        <p:spPr>
          <a:xfrm>
            <a:off x="685800" y="3931920"/>
            <a:ext cx="54864" cy="914400"/>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931920"/>
            <a:ext cx="2377440" cy="914400"/>
          </a:xfrm>
          <a:prstGeom prst="rect">
            <a:avLst/>
          </a:prstGeom>
          <a:noFill/>
        </p:spPr>
        <p:txBody>
          <a:bodyPr wrap="square" anchor="ctr" lIns="45720" rIns="45720">
            <a:spAutoFit/>
          </a:bodyPr>
          <a:lstStyle/>
          <a:p>
            <a:pPr algn="l"/>
            <a:r>
              <a:rPr sz="2200" b="1">
                <a:solidFill>
                  <a:srgbClr val="1F6FB5"/>
                </a:solidFill>
                <a:latin typeface="Calibri"/>
              </a:rPr>
              <a:t>Why it is hard</a:t>
            </a:r>
          </a:p>
        </p:txBody>
      </p:sp>
      <p:sp>
        <p:nvSpPr>
          <p:cNvPr id="13" name="TextBox 12"/>
          <p:cNvSpPr txBox="1"/>
          <p:nvPr/>
        </p:nvSpPr>
        <p:spPr>
          <a:xfrm>
            <a:off x="3383280" y="3931920"/>
            <a:ext cx="8168335" cy="914400"/>
          </a:xfrm>
          <a:prstGeom prst="rect">
            <a:avLst/>
          </a:prstGeom>
          <a:noFill/>
        </p:spPr>
        <p:txBody>
          <a:bodyPr wrap="square" anchor="ctr" lIns="45720" rIns="45720">
            <a:spAutoFit/>
          </a:bodyPr>
          <a:lstStyle/>
          <a:p>
            <a:pPr algn="l"/>
            <a:r>
              <a:rPr sz="1800" b="0">
                <a:solidFill>
                  <a:srgbClr val="1B263B"/>
                </a:solidFill>
                <a:latin typeface="Calibri"/>
              </a:rPr>
              <a:t>Most disagreements are intended design choices, known limits or already-reported issues. Sorting them by hand does not scale.</a:t>
            </a:r>
          </a:p>
        </p:txBody>
      </p:sp>
      <p:sp>
        <p:nvSpPr>
          <p:cNvPr id="14" name="Rectangle 13"/>
          <p:cNvSpPr/>
          <p:nvPr/>
        </p:nvSpPr>
        <p:spPr>
          <a:xfrm>
            <a:off x="685800" y="5029200"/>
            <a:ext cx="54864" cy="914400"/>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029200"/>
            <a:ext cx="2377440" cy="914400"/>
          </a:xfrm>
          <a:prstGeom prst="rect">
            <a:avLst/>
          </a:prstGeom>
          <a:noFill/>
        </p:spPr>
        <p:txBody>
          <a:bodyPr wrap="square" anchor="ctr" lIns="45720" rIns="45720">
            <a:spAutoFit/>
          </a:bodyPr>
          <a:lstStyle/>
          <a:p>
            <a:pPr algn="l"/>
            <a:r>
              <a:rPr sz="2200" b="1">
                <a:solidFill>
                  <a:srgbClr val="1F6FB5"/>
                </a:solidFill>
                <a:latin typeface="Calibri"/>
              </a:rPr>
              <a:t>Our approach</a:t>
            </a:r>
          </a:p>
        </p:txBody>
      </p:sp>
      <p:sp>
        <p:nvSpPr>
          <p:cNvPr id="16" name="TextBox 15"/>
          <p:cNvSpPr txBox="1"/>
          <p:nvPr/>
        </p:nvSpPr>
        <p:spPr>
          <a:xfrm>
            <a:off x="3383280" y="5029200"/>
            <a:ext cx="8168335" cy="914400"/>
          </a:xfrm>
          <a:prstGeom prst="rect">
            <a:avLst/>
          </a:prstGeom>
          <a:noFill/>
        </p:spPr>
        <p:txBody>
          <a:bodyPr wrap="square" anchor="ctr" lIns="45720" rIns="45720">
            <a:spAutoFit/>
          </a:bodyPr>
          <a:lstStyle/>
          <a:p>
            <a:pPr algn="l"/>
            <a:r>
              <a:rPr sz="1800" b="0">
                <a:solidFill>
                  <a:srgbClr val="1B263B"/>
                </a:solidFill>
                <a:latin typeface="Calibri"/>
              </a:rPr>
              <a:t>Run the same programs through several checkers and real CPython, auto-filter known differences, surface the few genuine bugs (mainly ty, also mypy).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685800"/>
          </a:xfrm>
          <a:prstGeom prst="rect">
            <a:avLst/>
          </a:prstGeom>
          <a:noFill/>
        </p:spPr>
        <p:txBody>
          <a:bodyPr wrap="square" anchor="ctr" lIns="45720" rIns="45720">
            <a:spAutoFit/>
          </a:bodyPr>
          <a:lstStyle/>
          <a:p>
            <a:pPr algn="l"/>
            <a:r>
              <a:rPr sz="3400" b="1">
                <a:solidFill>
                  <a:srgbClr val="1B263B"/>
                </a:solidFill>
                <a:latin typeface="Calibri"/>
              </a:rPr>
              <a:t>Motivation: why type checkers, why ty</a:t>
            </a:r>
          </a:p>
        </p:txBody>
      </p:sp>
      <p:sp>
        <p:nvSpPr>
          <p:cNvPr id="3" name="Rectangle 2"/>
          <p:cNvSpPr/>
          <p:nvPr/>
        </p:nvSpPr>
        <p:spPr>
          <a:xfrm>
            <a:off x="685800" y="1051560"/>
            <a:ext cx="822960" cy="54864"/>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00800"/>
            <a:ext cx="10865815" cy="9144"/>
          </a:xfrm>
          <a:prstGeom prst="rect">
            <a:avLst/>
          </a:prstGeom>
          <a:solidFill>
            <a:srgbClr val="C9C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28232"/>
            <a:ext cx="3657600" cy="320040"/>
          </a:xfrm>
          <a:prstGeom prst="rect">
            <a:avLst/>
          </a:prstGeom>
          <a:noFill/>
        </p:spPr>
        <p:txBody>
          <a:bodyPr wrap="square" anchor="t" lIns="45720" rIns="45720">
            <a:spAutoFit/>
          </a:bodyPr>
          <a:lstStyle/>
          <a:p>
            <a:pPr algn="l"/>
            <a:r>
              <a:rPr sz="1200" b="0">
                <a:solidFill>
                  <a:srgbClr val="6B7280"/>
                </a:solidFill>
                <a:latin typeface="Calibri"/>
              </a:rPr>
              <a:t>typediff</a:t>
            </a:r>
          </a:p>
        </p:txBody>
      </p:sp>
      <p:sp>
        <p:nvSpPr>
          <p:cNvPr id="6" name="TextBox 5"/>
          <p:cNvSpPr txBox="1"/>
          <p:nvPr/>
        </p:nvSpPr>
        <p:spPr>
          <a:xfrm>
            <a:off x="10637215" y="6428232"/>
            <a:ext cx="914400" cy="320040"/>
          </a:xfrm>
          <a:prstGeom prst="rect">
            <a:avLst/>
          </a:prstGeom>
          <a:noFill/>
        </p:spPr>
        <p:txBody>
          <a:bodyPr wrap="square" anchor="t" lIns="45720" rIns="45720">
            <a:spAutoFit/>
          </a:bodyPr>
          <a:lstStyle/>
          <a:p>
            <a:pPr algn="r"/>
            <a:r>
              <a:rPr sz="1200" b="0">
                <a:solidFill>
                  <a:srgbClr val="6B7280"/>
                </a:solidFill>
                <a:latin typeface="Calibri"/>
              </a:rPr>
              <a:t>3</a:t>
            </a:r>
          </a:p>
        </p:txBody>
      </p:sp>
      <p:sp>
        <p:nvSpPr>
          <p:cNvPr id="7" name="Rectangle 6"/>
          <p:cNvSpPr/>
          <p:nvPr/>
        </p:nvSpPr>
        <p:spPr>
          <a:xfrm>
            <a:off x="678027" y="1325880"/>
            <a:ext cx="3429000" cy="4434840"/>
          </a:xfrm>
          <a:prstGeom prst="rect">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78027" y="1325880"/>
            <a:ext cx="3429000" cy="73152"/>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0907" y="1508760"/>
            <a:ext cx="3063240" cy="457200"/>
          </a:xfrm>
          <a:prstGeom prst="rect">
            <a:avLst/>
          </a:prstGeom>
          <a:noFill/>
        </p:spPr>
        <p:txBody>
          <a:bodyPr wrap="square" anchor="t" lIns="45720" rIns="45720">
            <a:spAutoFit/>
          </a:bodyPr>
          <a:lstStyle/>
          <a:p>
            <a:pPr algn="l"/>
            <a:r>
              <a:rPr sz="2200" b="1">
                <a:solidFill>
                  <a:srgbClr val="1F6FB5"/>
                </a:solidFill>
                <a:latin typeface="Calibri"/>
              </a:rPr>
              <a:t>Why type checkers matter</a:t>
            </a:r>
          </a:p>
        </p:txBody>
      </p:sp>
      <p:sp>
        <p:nvSpPr>
          <p:cNvPr id="10" name="TextBox 9"/>
          <p:cNvSpPr txBox="1"/>
          <p:nvPr/>
        </p:nvSpPr>
        <p:spPr>
          <a:xfrm>
            <a:off x="860907" y="2423160"/>
            <a:ext cx="3063240" cy="3200400"/>
          </a:xfrm>
          <a:prstGeom prst="rect">
            <a:avLst/>
          </a:prstGeom>
          <a:noFill/>
        </p:spPr>
        <p:txBody>
          <a:bodyPr wrap="square" anchor="t" lIns="45720" rIns="45720">
            <a:spAutoFit/>
          </a:bodyPr>
          <a:lstStyle/>
          <a:p>
            <a:pPr algn="l"/>
            <a:r>
              <a:rPr sz="1800" b="0">
                <a:solidFill>
                  <a:srgbClr val="1B263B"/>
                </a:solidFill>
                <a:latin typeface="Calibri"/>
              </a:rPr>
              <a:t>•  They run in editors, CI and AI-assisted coding</a:t>
            </a:r>
          </a:p>
          <a:p>
            <a:pPr algn="l">
              <a:spcBef>
                <a:spcPts val="900"/>
              </a:spcBef>
            </a:pPr>
            <a:r>
              <a:rPr sz="1800" b="0">
                <a:solidFill>
                  <a:srgbClr val="1B263B"/>
                </a:solidFill>
                <a:latin typeface="Calibri"/>
              </a:rPr>
              <a:t>•  A wrong answer silently misleads many developers</a:t>
            </a:r>
          </a:p>
          <a:p>
            <a:pPr algn="l">
              <a:spcBef>
                <a:spcPts val="900"/>
              </a:spcBef>
            </a:pPr>
            <a:r>
              <a:rPr sz="1800" b="0">
                <a:solidFill>
                  <a:srgbClr val="1B263B"/>
                </a:solidFill>
                <a:latin typeface="Calibri"/>
              </a:rPr>
              <a:t>•  Users expect them to follow the spec</a:t>
            </a:r>
          </a:p>
        </p:txBody>
      </p:sp>
      <p:sp>
        <p:nvSpPr>
          <p:cNvPr id="11" name="Rectangle 10"/>
          <p:cNvSpPr/>
          <p:nvPr/>
        </p:nvSpPr>
        <p:spPr>
          <a:xfrm>
            <a:off x="4381347" y="1325880"/>
            <a:ext cx="3429000" cy="4434840"/>
          </a:xfrm>
          <a:prstGeom prst="rect">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1347" y="1325880"/>
            <a:ext cx="3429000" cy="73152"/>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4227" y="1508760"/>
            <a:ext cx="3063240" cy="457200"/>
          </a:xfrm>
          <a:prstGeom prst="rect">
            <a:avLst/>
          </a:prstGeom>
          <a:noFill/>
        </p:spPr>
        <p:txBody>
          <a:bodyPr wrap="square" anchor="t" lIns="45720" rIns="45720">
            <a:spAutoFit/>
          </a:bodyPr>
          <a:lstStyle/>
          <a:p>
            <a:pPr algn="l"/>
            <a:r>
              <a:rPr sz="2200" b="1">
                <a:solidFill>
                  <a:srgbClr val="1F6FB5"/>
                </a:solidFill>
                <a:latin typeface="Calibri"/>
              </a:rPr>
              <a:t>Why ty</a:t>
            </a:r>
          </a:p>
        </p:txBody>
      </p:sp>
      <p:sp>
        <p:nvSpPr>
          <p:cNvPr id="14" name="TextBox 13"/>
          <p:cNvSpPr txBox="1"/>
          <p:nvPr/>
        </p:nvSpPr>
        <p:spPr>
          <a:xfrm>
            <a:off x="4564227" y="2423160"/>
            <a:ext cx="3063240" cy="3200400"/>
          </a:xfrm>
          <a:prstGeom prst="rect">
            <a:avLst/>
          </a:prstGeom>
          <a:noFill/>
        </p:spPr>
        <p:txBody>
          <a:bodyPr wrap="square" anchor="t" lIns="45720" rIns="45720">
            <a:spAutoFit/>
          </a:bodyPr>
          <a:lstStyle/>
          <a:p>
            <a:pPr algn="l"/>
            <a:r>
              <a:rPr sz="1800" b="0">
                <a:solidFill>
                  <a:srgbClr val="1B263B"/>
                </a:solidFill>
                <a:latin typeface="Calibri"/>
              </a:rPr>
              <a:t>•  New Rust checker from Astral, now part of OpenAI [2]</a:t>
            </a:r>
          </a:p>
          <a:p>
            <a:pPr algn="l">
              <a:spcBef>
                <a:spcPts val="900"/>
              </a:spcBef>
            </a:pPr>
            <a:r>
              <a:rPr sz="1800" b="0">
                <a:solidFill>
                  <a:srgbClr val="1B263B"/>
                </a:solidFill>
                <a:latin typeface="Calibri"/>
              </a:rPr>
              <a:t>•  Reported 10x-60x faster than mypy and Pyright [1]</a:t>
            </a:r>
          </a:p>
          <a:p>
            <a:pPr algn="l">
              <a:spcBef>
                <a:spcPts val="900"/>
              </a:spcBef>
            </a:pPr>
            <a:r>
              <a:rPr sz="1800" b="0">
                <a:solidFill>
                  <a:srgbClr val="1B263B"/>
                </a:solidFill>
                <a:latin typeface="Calibri"/>
              </a:rPr>
              <a:t>•  Still beta, behind on spec coverage [3]</a:t>
            </a:r>
          </a:p>
          <a:p>
            <a:pPr algn="l">
              <a:spcBef>
                <a:spcPts val="900"/>
              </a:spcBef>
            </a:pPr>
            <a:r>
              <a:rPr sz="1800" b="0">
                <a:solidFill>
                  <a:srgbClr val="1B263B"/>
                </a:solidFill>
                <a:latin typeface="Calibri"/>
              </a:rPr>
              <a:t>•  pydantic-ai: 337 of 417 diagnostics were false positives [4]</a:t>
            </a:r>
          </a:p>
        </p:txBody>
      </p:sp>
      <p:sp>
        <p:nvSpPr>
          <p:cNvPr id="15" name="Rectangle 14"/>
          <p:cNvSpPr/>
          <p:nvPr/>
        </p:nvSpPr>
        <p:spPr>
          <a:xfrm>
            <a:off x="8084667" y="1325880"/>
            <a:ext cx="3429000" cy="4434840"/>
          </a:xfrm>
          <a:prstGeom prst="rect">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4667" y="1325880"/>
            <a:ext cx="3429000" cy="73152"/>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7547" y="1508760"/>
            <a:ext cx="3063240" cy="457200"/>
          </a:xfrm>
          <a:prstGeom prst="rect">
            <a:avLst/>
          </a:prstGeom>
          <a:noFill/>
        </p:spPr>
        <p:txBody>
          <a:bodyPr wrap="square" anchor="t" lIns="45720" rIns="45720">
            <a:spAutoFit/>
          </a:bodyPr>
          <a:lstStyle/>
          <a:p>
            <a:pPr algn="l"/>
            <a:r>
              <a:rPr sz="2200" b="1">
                <a:solidFill>
                  <a:srgbClr val="1F6FB5"/>
                </a:solidFill>
                <a:latin typeface="Calibri"/>
              </a:rPr>
              <a:t>Why differential testing</a:t>
            </a:r>
          </a:p>
        </p:txBody>
      </p:sp>
      <p:sp>
        <p:nvSpPr>
          <p:cNvPr id="18" name="TextBox 17"/>
          <p:cNvSpPr txBox="1"/>
          <p:nvPr/>
        </p:nvSpPr>
        <p:spPr>
          <a:xfrm>
            <a:off x="8267547" y="2423160"/>
            <a:ext cx="3063240" cy="3200400"/>
          </a:xfrm>
          <a:prstGeom prst="rect">
            <a:avLst/>
          </a:prstGeom>
          <a:noFill/>
        </p:spPr>
        <p:txBody>
          <a:bodyPr wrap="square" anchor="t" lIns="45720" rIns="45720">
            <a:spAutoFit/>
          </a:bodyPr>
          <a:lstStyle/>
          <a:p>
            <a:pPr algn="l"/>
            <a:r>
              <a:rPr sz="1800" b="0">
                <a:solidFill>
                  <a:srgbClr val="1B263B"/>
                </a:solidFill>
                <a:latin typeface="Calibri"/>
              </a:rPr>
              <a:t>•  No hand-written oracle needed</a:t>
            </a:r>
          </a:p>
          <a:p>
            <a:pPr algn="l">
              <a:spcBef>
                <a:spcPts val="900"/>
              </a:spcBef>
            </a:pPr>
            <a:r>
              <a:rPr sz="1800" b="0">
                <a:solidFill>
                  <a:srgbClr val="1B263B"/>
                </a:solidFill>
                <a:latin typeface="Calibri"/>
              </a:rPr>
              <a:t>•  Other checkers and CPython act as oracles</a:t>
            </a:r>
          </a:p>
          <a:p>
            <a:pPr algn="l">
              <a:spcBef>
                <a:spcPts val="900"/>
              </a:spcBef>
            </a:pPr>
            <a:r>
              <a:rPr sz="1800" b="0">
                <a:solidFill>
                  <a:srgbClr val="1B263B"/>
                </a:solidFill>
                <a:latin typeface="Calibri"/>
              </a:rPr>
              <a:t>•  Young tool: bugs found now are cheap to fix and high impact</a:t>
            </a:r>
          </a:p>
        </p:txBody>
      </p:sp>
      <p:sp>
        <p:nvSpPr>
          <p:cNvPr id="19" name="TextBox 18"/>
          <p:cNvSpPr txBox="1"/>
          <p:nvPr/>
        </p:nvSpPr>
        <p:spPr>
          <a:xfrm>
            <a:off x="640080" y="5897880"/>
            <a:ext cx="10911535" cy="457200"/>
          </a:xfrm>
          <a:prstGeom prst="rect">
            <a:avLst/>
          </a:prstGeom>
          <a:noFill/>
        </p:spPr>
        <p:txBody>
          <a:bodyPr wrap="square" lIns="45720" rIns="45720">
            <a:spAutoFit/>
          </a:bodyPr>
          <a:lstStyle/>
          <a:p>
            <a:r>
              <a:rPr sz="1100" b="1">
                <a:solidFill>
                  <a:srgbClr val="6B7280"/>
                </a:solidFill>
                <a:latin typeface="Calibri"/>
              </a:rPr>
              <a:t>Sources:  </a:t>
            </a:r>
            <a:r>
              <a:rPr sz="1100">
                <a:solidFill>
                  <a:srgbClr val="6B7280"/>
                </a:solidFill>
                <a:latin typeface="Calibri"/>
                <a:hlinkClick r:id="rId2"/>
              </a:rPr>
              <a:t>[1] astral.sh/blog/ty    </a:t>
            </a:r>
            <a:r>
              <a:rPr sz="1100">
                <a:solidFill>
                  <a:srgbClr val="6B7280"/>
                </a:solidFill>
                <a:latin typeface="Calibri"/>
                <a:hlinkClick r:id="rId3"/>
              </a:rPr>
              <a:t>[2] pydevtools.com ty guide    </a:t>
            </a:r>
            <a:r>
              <a:rPr sz="1100">
                <a:solidFill>
                  <a:srgbClr val="6B7280"/>
                </a:solidFill>
                <a:latin typeface="Calibri"/>
                <a:hlinkClick r:id="rId4"/>
              </a:rPr>
              <a:t>[3] jlevy/simple-modern-uv type-checker comparison    </a:t>
            </a:r>
            <a:r>
              <a:rPr sz="1100">
                <a:solidFill>
                  <a:srgbClr val="6B7280"/>
                </a:solidFill>
                <a:latin typeface="Calibri"/>
                <a:hlinkClick r:id="rId5"/>
              </a:rPr>
              <a:t>[4] pydantic-ai issue #3970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685800"/>
          </a:xfrm>
          <a:prstGeom prst="rect">
            <a:avLst/>
          </a:prstGeom>
          <a:noFill/>
        </p:spPr>
        <p:txBody>
          <a:bodyPr wrap="square" anchor="ctr" lIns="45720" rIns="45720">
            <a:spAutoFit/>
          </a:bodyPr>
          <a:lstStyle/>
          <a:p>
            <a:pPr algn="l"/>
            <a:r>
              <a:rPr sz="3400" b="1">
                <a:solidFill>
                  <a:srgbClr val="1B263B"/>
                </a:solidFill>
                <a:latin typeface="Calibri"/>
              </a:rPr>
              <a:t>Pipeline: from programs to filed bugs</a:t>
            </a:r>
          </a:p>
        </p:txBody>
      </p:sp>
      <p:sp>
        <p:nvSpPr>
          <p:cNvPr id="3" name="Rectangle 2"/>
          <p:cNvSpPr/>
          <p:nvPr/>
        </p:nvSpPr>
        <p:spPr>
          <a:xfrm>
            <a:off x="685800" y="1051560"/>
            <a:ext cx="822960" cy="54864"/>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00800"/>
            <a:ext cx="10865815" cy="9144"/>
          </a:xfrm>
          <a:prstGeom prst="rect">
            <a:avLst/>
          </a:prstGeom>
          <a:solidFill>
            <a:srgbClr val="C9C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28232"/>
            <a:ext cx="3657600" cy="320040"/>
          </a:xfrm>
          <a:prstGeom prst="rect">
            <a:avLst/>
          </a:prstGeom>
          <a:noFill/>
        </p:spPr>
        <p:txBody>
          <a:bodyPr wrap="square" anchor="t" lIns="45720" rIns="45720">
            <a:spAutoFit/>
          </a:bodyPr>
          <a:lstStyle/>
          <a:p>
            <a:pPr algn="l"/>
            <a:r>
              <a:rPr sz="1200" b="0">
                <a:solidFill>
                  <a:srgbClr val="6B7280"/>
                </a:solidFill>
                <a:latin typeface="Calibri"/>
              </a:rPr>
              <a:t>typediff</a:t>
            </a:r>
          </a:p>
        </p:txBody>
      </p:sp>
      <p:sp>
        <p:nvSpPr>
          <p:cNvPr id="6" name="TextBox 5"/>
          <p:cNvSpPr txBox="1"/>
          <p:nvPr/>
        </p:nvSpPr>
        <p:spPr>
          <a:xfrm>
            <a:off x="10637215" y="6428232"/>
            <a:ext cx="914400" cy="320040"/>
          </a:xfrm>
          <a:prstGeom prst="rect">
            <a:avLst/>
          </a:prstGeom>
          <a:noFill/>
        </p:spPr>
        <p:txBody>
          <a:bodyPr wrap="square" anchor="t" lIns="45720" rIns="45720">
            <a:spAutoFit/>
          </a:bodyPr>
          <a:lstStyle/>
          <a:p>
            <a:pPr algn="r"/>
            <a:r>
              <a:rPr sz="1200" b="0">
                <a:solidFill>
                  <a:srgbClr val="6B7280"/>
                </a:solidFill>
                <a:latin typeface="Calibri"/>
              </a:rPr>
              <a:t>4</a:t>
            </a:r>
          </a:p>
        </p:txBody>
      </p:sp>
      <p:sp>
        <p:nvSpPr>
          <p:cNvPr id="7" name="Rounded Rectangle 6"/>
          <p:cNvSpPr/>
          <p:nvPr/>
        </p:nvSpPr>
        <p:spPr>
          <a:xfrm>
            <a:off x="384048" y="1325880"/>
            <a:ext cx="2011680" cy="1417320"/>
          </a:xfrm>
          <a:prstGeom prst="roundRect">
            <a:avLst>
              <a:gd name="adj" fmla="val 12000"/>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a:solidFill>
                  <a:srgbClr val="FFFFFF"/>
                </a:solidFill>
                <a:latin typeface="Calibri"/>
              </a:rPr>
              <a:t>INPUT PROGRAMS</a:t>
            </a:r>
          </a:p>
          <a:p>
            <a:pPr algn="ctr"/>
            <a:r>
              <a:rPr sz="1400" b="0">
                <a:solidFill>
                  <a:srgbClr val="FFFFFF"/>
                </a:solidFill>
                <a:latin typeface="Calibri"/>
              </a:rPr>
              <a:t>27 hand-written seeds</a:t>
            </a:r>
          </a:p>
          <a:p>
            <a:pPr algn="ctr"/>
            <a:r>
              <a:rPr sz="1400" b="0">
                <a:solidFill>
                  <a:srgbClr val="FFFFFF"/>
                </a:solidFill>
                <a:latin typeface="Calibri"/>
              </a:rPr>
              <a:t>4,849 harvested</a:t>
            </a:r>
          </a:p>
          <a:p>
            <a:pPr algn="ctr"/>
            <a:r>
              <a:rPr sz="1400" b="0">
                <a:solidFill>
                  <a:srgbClr val="FFFFFF"/>
                </a:solidFill>
                <a:latin typeface="Calibri"/>
              </a:rPr>
              <a:t>LLM-generated</a:t>
            </a:r>
          </a:p>
        </p:txBody>
      </p:sp>
      <p:sp>
        <p:nvSpPr>
          <p:cNvPr id="8" name="Rounded Rectangle 7"/>
          <p:cNvSpPr/>
          <p:nvPr/>
        </p:nvSpPr>
        <p:spPr>
          <a:xfrm>
            <a:off x="2807208" y="1325880"/>
            <a:ext cx="2011680" cy="1417320"/>
          </a:xfrm>
          <a:prstGeom prst="roundRect">
            <a:avLst>
              <a:gd name="adj" fmla="val 12000"/>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a:solidFill>
                  <a:srgbClr val="FFFFFF"/>
                </a:solidFill>
                <a:latin typeface="Calibri"/>
              </a:rPr>
              <a:t>RUN</a:t>
            </a:r>
          </a:p>
          <a:p>
            <a:pPr algn="ctr"/>
            <a:r>
              <a:rPr sz="1400" b="0">
                <a:solidFill>
                  <a:srgbClr val="FFFFFF"/>
                </a:solidFill>
                <a:latin typeface="Calibri"/>
              </a:rPr>
              <a:t>mypy 2.4.0, ty 0.0.84, pyright</a:t>
            </a:r>
          </a:p>
          <a:p>
            <a:pPr algn="ctr"/>
            <a:r>
              <a:rPr sz="1400" b="0">
                <a:solidFill>
                  <a:srgbClr val="FFFFFF"/>
                </a:solidFill>
                <a:latin typeface="Calibri"/>
              </a:rPr>
              <a:t>CPython = ground truth</a:t>
            </a:r>
          </a:p>
        </p:txBody>
      </p:sp>
      <p:sp>
        <p:nvSpPr>
          <p:cNvPr id="9" name="Rounded Rectangle 8"/>
          <p:cNvSpPr/>
          <p:nvPr/>
        </p:nvSpPr>
        <p:spPr>
          <a:xfrm>
            <a:off x="5230368" y="1325880"/>
            <a:ext cx="2011680" cy="1417320"/>
          </a:xfrm>
          <a:prstGeom prst="roundRect">
            <a:avLst>
              <a:gd name="adj" fmla="val 12000"/>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a:solidFill>
                  <a:srgbClr val="FFFFFF"/>
                </a:solidFill>
                <a:latin typeface="Calibri"/>
              </a:rPr>
              <a:t>NORMALISE &amp; COMPARE</a:t>
            </a:r>
          </a:p>
          <a:p>
            <a:pPr algn="ctr"/>
            <a:r>
              <a:rPr sz="1400" b="0">
                <a:solidFill>
                  <a:srgbClr val="FFFFFF"/>
                </a:solidFill>
                <a:latin typeface="Calibri"/>
              </a:rPr>
              <a:t>parse diagnostics and reveal_type</a:t>
            </a:r>
          </a:p>
          <a:p>
            <a:pPr algn="ctr"/>
            <a:r>
              <a:rPr sz="1400" b="0">
                <a:solidFill>
                  <a:srgbClr val="FFFFFF"/>
                </a:solidFill>
                <a:latin typeface="Calibri"/>
              </a:rPr>
              <a:t>align by statement</a:t>
            </a:r>
          </a:p>
        </p:txBody>
      </p:sp>
      <p:sp>
        <p:nvSpPr>
          <p:cNvPr id="10" name="Rounded Rectangle 9"/>
          <p:cNvSpPr/>
          <p:nvPr/>
        </p:nvSpPr>
        <p:spPr>
          <a:xfrm>
            <a:off x="7653528" y="1325880"/>
            <a:ext cx="2011680" cy="1417320"/>
          </a:xfrm>
          <a:prstGeom prst="roundRect">
            <a:avLst>
              <a:gd name="adj" fmla="val 12000"/>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a:solidFill>
                  <a:srgbClr val="FFFFFF"/>
                </a:solidFill>
                <a:latin typeface="Calibri"/>
              </a:rPr>
              <a:t>AUTO-FILTER</a:t>
            </a:r>
          </a:p>
          <a:p>
            <a:pPr algn="ctr"/>
            <a:r>
              <a:rPr sz="1400" b="0">
                <a:solidFill>
                  <a:srgbClr val="FFFFFF"/>
                </a:solidFill>
                <a:latin typeface="Calibri"/>
              </a:rPr>
              <a:t>KB: intended, known, cascades, invalid</a:t>
            </a:r>
          </a:p>
          <a:p>
            <a:pPr algn="ctr"/>
            <a:r>
              <a:rPr sz="1400" b="0">
                <a:solidFill>
                  <a:srgbClr val="FFFFFF"/>
                </a:solidFill>
                <a:latin typeface="Calibri"/>
              </a:rPr>
              <a:t>dismissed ones leave</a:t>
            </a:r>
          </a:p>
        </p:txBody>
      </p:sp>
      <p:sp>
        <p:nvSpPr>
          <p:cNvPr id="11" name="Rounded Rectangle 10"/>
          <p:cNvSpPr/>
          <p:nvPr/>
        </p:nvSpPr>
        <p:spPr>
          <a:xfrm>
            <a:off x="10076688" y="1325880"/>
            <a:ext cx="2011680" cy="1417320"/>
          </a:xfrm>
          <a:prstGeom prst="roundRect">
            <a:avLst>
              <a:gd name="adj" fmla="val 12000"/>
            </a:avLst>
          </a:prstGeom>
          <a:solidFill>
            <a:srgbClr val="E9ECF1"/>
          </a:solidFill>
          <a:ln w="254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a:solidFill>
                  <a:srgbClr val="1B263B"/>
                </a:solidFill>
                <a:latin typeface="Calibri"/>
              </a:rPr>
              <a:t>REVIEW QUEUE</a:t>
            </a:r>
          </a:p>
          <a:p>
            <a:pPr algn="ctr"/>
            <a:r>
              <a:rPr sz="1400" b="0">
                <a:solidFill>
                  <a:srgbClr val="1B263B"/>
                </a:solidFill>
                <a:latin typeface="Calibri"/>
              </a:rPr>
              <a:t>grouped into patterns (triage)</a:t>
            </a:r>
          </a:p>
        </p:txBody>
      </p:sp>
      <p:sp>
        <p:nvSpPr>
          <p:cNvPr id="12" name="Rounded Rectangle 11"/>
          <p:cNvSpPr/>
          <p:nvPr/>
        </p:nvSpPr>
        <p:spPr>
          <a:xfrm>
            <a:off x="7653528" y="3200400"/>
            <a:ext cx="2011680" cy="960120"/>
          </a:xfrm>
          <a:prstGeom prst="roundRect">
            <a:avLst>
              <a:gd name="adj" fmla="val 12000"/>
            </a:avLst>
          </a:prstGeom>
          <a:solidFill>
            <a:srgbClr val="E9ECF1"/>
          </a:solidFill>
          <a:ln w="254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a:solidFill>
                  <a:srgbClr val="1B263B"/>
                </a:solidFill>
                <a:latin typeface="Calibri"/>
              </a:rPr>
              <a:t>Add KB / harness rule</a:t>
            </a:r>
          </a:p>
        </p:txBody>
      </p:sp>
      <p:sp>
        <p:nvSpPr>
          <p:cNvPr id="13" name="Diamond 12"/>
          <p:cNvSpPr/>
          <p:nvPr/>
        </p:nvSpPr>
        <p:spPr>
          <a:xfrm>
            <a:off x="10076688" y="3108960"/>
            <a:ext cx="2011680" cy="1143000"/>
          </a:xfrm>
          <a:prstGeom prst="diamond">
            <a:avLst/>
          </a:prstGeom>
          <a:solidFill>
            <a:srgbClr val="E9ECF1"/>
          </a:solidFill>
          <a:ln w="254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a:solidFill>
                  <a:srgbClr val="1B263B"/>
                </a:solidFill>
                <a:latin typeface="Calibri"/>
              </a:rPr>
              <a:t>Real candidate?</a:t>
            </a:r>
          </a:p>
        </p:txBody>
      </p:sp>
      <p:sp>
        <p:nvSpPr>
          <p:cNvPr id="14" name="Rounded Rectangle 13"/>
          <p:cNvSpPr/>
          <p:nvPr/>
        </p:nvSpPr>
        <p:spPr>
          <a:xfrm>
            <a:off x="10076688" y="4526280"/>
            <a:ext cx="2011680" cy="685800"/>
          </a:xfrm>
          <a:prstGeom prst="roundRect">
            <a:avLst>
              <a:gd name="adj" fmla="val 12000"/>
            </a:avLst>
          </a:prstGeom>
          <a:solidFill>
            <a:srgbClr val="FFFFFF"/>
          </a:solidFill>
          <a:ln w="25400">
            <a:solidFill>
              <a:srgbClr val="C9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a:solidFill>
                  <a:srgbClr val="6B7280"/>
                </a:solidFill>
                <a:latin typeface="Calibri"/>
              </a:rPr>
              <a:t>Hits</a:t>
            </a:r>
          </a:p>
        </p:txBody>
      </p:sp>
      <p:sp>
        <p:nvSpPr>
          <p:cNvPr id="15" name="Rounded Rectangle 14"/>
          <p:cNvSpPr/>
          <p:nvPr/>
        </p:nvSpPr>
        <p:spPr>
          <a:xfrm>
            <a:off x="7653528" y="4343400"/>
            <a:ext cx="2011680" cy="1188720"/>
          </a:xfrm>
          <a:prstGeom prst="roundRect">
            <a:avLst>
              <a:gd name="adj" fmla="val 12000"/>
            </a:avLst>
          </a:prstGeom>
          <a:solidFill>
            <a:srgbClr val="E9ECF1"/>
          </a:solidFill>
          <a:ln w="254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a:solidFill>
                  <a:srgbClr val="1B263B"/>
                </a:solidFill>
                <a:latin typeface="Calibri"/>
              </a:rPr>
              <a:t>VERIFY</a:t>
            </a:r>
          </a:p>
          <a:p>
            <a:pPr algn="ctr"/>
            <a:r>
              <a:rPr sz="1400" b="0">
                <a:solidFill>
                  <a:srgbClr val="1B263B"/>
                </a:solidFill>
                <a:latin typeface="Calibri"/>
              </a:rPr>
              <a:t>spec, CPython, tracker search, minimal repro</a:t>
            </a:r>
          </a:p>
        </p:txBody>
      </p:sp>
      <p:sp>
        <p:nvSpPr>
          <p:cNvPr id="16" name="Rounded Rectangle 15"/>
          <p:cNvSpPr/>
          <p:nvPr/>
        </p:nvSpPr>
        <p:spPr>
          <a:xfrm>
            <a:off x="5230368" y="4526280"/>
            <a:ext cx="2011680" cy="685800"/>
          </a:xfrm>
          <a:prstGeom prst="roundRect">
            <a:avLst>
              <a:gd name="adj" fmla="val 12000"/>
            </a:avLst>
          </a:prstGeom>
          <a:solidFill>
            <a:srgbClr val="E9ECF1"/>
          </a:solidFill>
          <a:ln w="254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a:solidFill>
                  <a:srgbClr val="1B263B"/>
                </a:solidFill>
                <a:latin typeface="Calibri"/>
              </a:rPr>
              <a:t>FILE ISSUE</a:t>
            </a:r>
          </a:p>
          <a:p>
            <a:pPr algn="ctr"/>
            <a:r>
              <a:rPr sz="1400" b="0">
                <a:solidFill>
                  <a:srgbClr val="1B263B"/>
                </a:solidFill>
                <a:latin typeface="Calibri"/>
              </a:rPr>
              <a:t>upstream</a:t>
            </a:r>
          </a:p>
        </p:txBody>
      </p:sp>
      <p:sp>
        <p:nvSpPr>
          <p:cNvPr id="17" name="Rounded Rectangle 16"/>
          <p:cNvSpPr/>
          <p:nvPr/>
        </p:nvSpPr>
        <p:spPr>
          <a:xfrm>
            <a:off x="10076688" y="5486400"/>
            <a:ext cx="2011680" cy="731520"/>
          </a:xfrm>
          <a:prstGeom prst="roundRect">
            <a:avLst>
              <a:gd name="adj" fmla="val 12000"/>
            </a:avLst>
          </a:prstGeom>
          <a:solidFill>
            <a:srgbClr val="FFFFFF"/>
          </a:solidFill>
          <a:ln w="25400">
            <a:solidFill>
              <a:srgbClr val="1F6FB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400" b="1">
                <a:solidFill>
                  <a:srgbClr val="1B263B"/>
                </a:solidFill>
                <a:latin typeface="Calibri"/>
              </a:rPr>
              <a:t>LLM MUTATION</a:t>
            </a:r>
          </a:p>
          <a:p>
            <a:pPr algn="ctr"/>
            <a:r>
              <a:rPr sz="1400" b="0">
                <a:solidFill>
                  <a:srgbClr val="1B263B"/>
                </a:solidFill>
                <a:latin typeface="Calibri"/>
              </a:rPr>
              <a:t>LLM generates only, never judges</a:t>
            </a:r>
          </a:p>
        </p:txBody>
      </p:sp>
      <p:cxnSp>
        <p:nvCxnSpPr>
          <p:cNvPr id="18" name="Connector 17"/>
          <p:cNvCxnSpPr>
            <a:stCxn id="7" idx="3"/>
            <a:endCxn id="8" idx="1"/>
          </p:cNvCxnSpPr>
          <p:nvPr/>
        </p:nvCxnSpPr>
        <p:spPr>
          <a:xfrm flipV="1">
            <a:off x="2395728" y="2034540"/>
            <a:ext cx="411480" cy="0"/>
          </a:xfrm>
          <a:prstGeom prst="line">
            <a:avLst/>
          </a:prstGeom>
          <a:ln w="25400">
            <a:solidFill>
              <a:srgbClr val="1B263B"/>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a:stCxn id="8" idx="3"/>
            <a:endCxn id="9" idx="1"/>
          </p:cNvCxnSpPr>
          <p:nvPr/>
        </p:nvCxnSpPr>
        <p:spPr>
          <a:xfrm flipV="1">
            <a:off x="4818888" y="2034540"/>
            <a:ext cx="411480" cy="0"/>
          </a:xfrm>
          <a:prstGeom prst="line">
            <a:avLst/>
          </a:prstGeom>
          <a:ln w="25400">
            <a:solidFill>
              <a:srgbClr val="1B263B"/>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a:stCxn id="9" idx="3"/>
            <a:endCxn id="10" idx="1"/>
          </p:cNvCxnSpPr>
          <p:nvPr/>
        </p:nvCxnSpPr>
        <p:spPr>
          <a:xfrm flipV="1">
            <a:off x="7242048" y="2034540"/>
            <a:ext cx="411480" cy="0"/>
          </a:xfrm>
          <a:prstGeom prst="line">
            <a:avLst/>
          </a:prstGeom>
          <a:ln w="25400">
            <a:solidFill>
              <a:srgbClr val="1B263B"/>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a:stCxn id="10" idx="3"/>
            <a:endCxn id="11" idx="1"/>
          </p:cNvCxnSpPr>
          <p:nvPr/>
        </p:nvCxnSpPr>
        <p:spPr>
          <a:xfrm flipV="1">
            <a:off x="9665208" y="2034540"/>
            <a:ext cx="411480" cy="0"/>
          </a:xfrm>
          <a:prstGeom prst="line">
            <a:avLst/>
          </a:prstGeom>
          <a:ln w="25400">
            <a:solidFill>
              <a:srgbClr val="1B263B"/>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a:stCxn id="11" idx="2"/>
            <a:endCxn id="13" idx="0"/>
          </p:cNvCxnSpPr>
          <p:nvPr/>
        </p:nvCxnSpPr>
        <p:spPr>
          <a:xfrm flipH="1">
            <a:off x="11082528" y="2743200"/>
            <a:ext cx="0" cy="365760"/>
          </a:xfrm>
          <a:prstGeom prst="line">
            <a:avLst/>
          </a:prstGeom>
          <a:ln w="25400">
            <a:solidFill>
              <a:srgbClr val="1B263B"/>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a:stCxn id="13" idx="1"/>
            <a:endCxn id="12" idx="3"/>
          </p:cNvCxnSpPr>
          <p:nvPr/>
        </p:nvCxnSpPr>
        <p:spPr>
          <a:xfrm flipH="1" flipV="1">
            <a:off x="9665208" y="3680460"/>
            <a:ext cx="411480" cy="0"/>
          </a:xfrm>
          <a:prstGeom prst="line">
            <a:avLst/>
          </a:prstGeom>
          <a:ln w="25400">
            <a:solidFill>
              <a:srgbClr val="1B263B"/>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a:stCxn id="12" idx="0"/>
            <a:endCxn id="10" idx="2"/>
          </p:cNvCxnSpPr>
          <p:nvPr/>
        </p:nvCxnSpPr>
        <p:spPr>
          <a:xfrm flipH="1" flipV="1">
            <a:off x="8659368" y="2743200"/>
            <a:ext cx="0" cy="457200"/>
          </a:xfrm>
          <a:prstGeom prst="line">
            <a:avLst/>
          </a:prstGeom>
          <a:ln w="25400">
            <a:solidFill>
              <a:srgbClr val="1B263B"/>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a:stCxn id="13" idx="2"/>
            <a:endCxn id="14" idx="0"/>
          </p:cNvCxnSpPr>
          <p:nvPr/>
        </p:nvCxnSpPr>
        <p:spPr>
          <a:xfrm flipH="1">
            <a:off x="11082528" y="4251960"/>
            <a:ext cx="0" cy="274320"/>
          </a:xfrm>
          <a:prstGeom prst="line">
            <a:avLst/>
          </a:prstGeom>
          <a:ln w="25400">
            <a:solidFill>
              <a:srgbClr val="1B263B"/>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a:stCxn id="14" idx="1"/>
            <a:endCxn id="15" idx="3"/>
          </p:cNvCxnSpPr>
          <p:nvPr/>
        </p:nvCxnSpPr>
        <p:spPr>
          <a:xfrm flipH="1">
            <a:off x="9665208" y="4869180"/>
            <a:ext cx="411480" cy="68580"/>
          </a:xfrm>
          <a:prstGeom prst="line">
            <a:avLst/>
          </a:prstGeom>
          <a:ln w="25400">
            <a:solidFill>
              <a:srgbClr val="1B263B"/>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a:stCxn id="15" idx="1"/>
            <a:endCxn id="16" idx="3"/>
          </p:cNvCxnSpPr>
          <p:nvPr/>
        </p:nvCxnSpPr>
        <p:spPr>
          <a:xfrm flipH="1" flipV="1">
            <a:off x="7242048" y="4869180"/>
            <a:ext cx="411480" cy="68580"/>
          </a:xfrm>
          <a:prstGeom prst="line">
            <a:avLst/>
          </a:prstGeom>
          <a:ln w="25400">
            <a:solidFill>
              <a:srgbClr val="1B263B"/>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a:stCxn id="14" idx="2"/>
            <a:endCxn id="17" idx="0"/>
          </p:cNvCxnSpPr>
          <p:nvPr/>
        </p:nvCxnSpPr>
        <p:spPr>
          <a:xfrm flipH="1">
            <a:off x="11082528" y="5212080"/>
            <a:ext cx="0" cy="274320"/>
          </a:xfrm>
          <a:prstGeom prst="line">
            <a:avLst/>
          </a:prstGeom>
          <a:ln w="25400">
            <a:solidFill>
              <a:srgbClr val="1B263B"/>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a:stCxn id="17" idx="1"/>
            <a:endCxn id="7" idx="2"/>
          </p:cNvCxnSpPr>
          <p:nvPr/>
        </p:nvCxnSpPr>
        <p:spPr>
          <a:xfrm flipH="1" flipV="1">
            <a:off x="1389888" y="2743200"/>
            <a:ext cx="8686800" cy="3108960"/>
          </a:xfrm>
          <a:prstGeom prst="bentConnector3">
            <a:avLst/>
          </a:prstGeom>
          <a:ln w="25400">
            <a:solidFill>
              <a:srgbClr val="1F6FB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619488" y="3291840"/>
            <a:ext cx="457200" cy="320040"/>
          </a:xfrm>
          <a:prstGeom prst="rect">
            <a:avLst/>
          </a:prstGeom>
          <a:noFill/>
        </p:spPr>
        <p:txBody>
          <a:bodyPr wrap="square" anchor="t" lIns="45720" rIns="45720">
            <a:spAutoFit/>
          </a:bodyPr>
          <a:lstStyle/>
          <a:p>
            <a:pPr algn="l"/>
            <a:r>
              <a:rPr sz="1400" b="1">
                <a:solidFill>
                  <a:srgbClr val="6B7280"/>
                </a:solidFill>
                <a:latin typeface="Calibri"/>
              </a:rPr>
              <a:t>No</a:t>
            </a:r>
          </a:p>
        </p:txBody>
      </p:sp>
      <p:sp>
        <p:nvSpPr>
          <p:cNvPr id="31" name="TextBox 30"/>
          <p:cNvSpPr txBox="1"/>
          <p:nvPr/>
        </p:nvSpPr>
        <p:spPr>
          <a:xfrm>
            <a:off x="11128248" y="4251960"/>
            <a:ext cx="548640" cy="320040"/>
          </a:xfrm>
          <a:prstGeom prst="rect">
            <a:avLst/>
          </a:prstGeom>
          <a:noFill/>
        </p:spPr>
        <p:txBody>
          <a:bodyPr wrap="square" anchor="t" lIns="45720" rIns="45720">
            <a:spAutoFit/>
          </a:bodyPr>
          <a:lstStyle/>
          <a:p>
            <a:pPr algn="l"/>
            <a:r>
              <a:rPr sz="1400" b="1">
                <a:solidFill>
                  <a:srgbClr val="6B7280"/>
                </a:solidFill>
                <a:latin typeface="Calibri"/>
              </a:rPr>
              <a:t>Yes</a:t>
            </a:r>
          </a:p>
        </p:txBody>
      </p:sp>
      <p:sp>
        <p:nvSpPr>
          <p:cNvPr id="32" name="Rounded Rectangle 31"/>
          <p:cNvSpPr/>
          <p:nvPr/>
        </p:nvSpPr>
        <p:spPr>
          <a:xfrm>
            <a:off x="2011680" y="3246120"/>
            <a:ext cx="320040" cy="228600"/>
          </a:xfrm>
          <a:prstGeom prst="round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95728" y="3200400"/>
            <a:ext cx="1737360" cy="320040"/>
          </a:xfrm>
          <a:prstGeom prst="rect">
            <a:avLst/>
          </a:prstGeom>
          <a:noFill/>
        </p:spPr>
        <p:txBody>
          <a:bodyPr wrap="square" anchor="t" lIns="45720" rIns="45720">
            <a:spAutoFit/>
          </a:bodyPr>
          <a:lstStyle/>
          <a:p>
            <a:pPr algn="l"/>
            <a:r>
              <a:rPr sz="1400" b="0">
                <a:solidFill>
                  <a:srgbClr val="1B263B"/>
                </a:solidFill>
                <a:latin typeface="Calibri"/>
              </a:rPr>
              <a:t>Deterministic</a:t>
            </a:r>
          </a:p>
        </p:txBody>
      </p:sp>
      <p:sp>
        <p:nvSpPr>
          <p:cNvPr id="34" name="Rounded Rectangle 33"/>
          <p:cNvSpPr/>
          <p:nvPr/>
        </p:nvSpPr>
        <p:spPr>
          <a:xfrm>
            <a:off x="2011680" y="3657600"/>
            <a:ext cx="320040" cy="228600"/>
          </a:xfrm>
          <a:prstGeom prst="roundRect">
            <a:avLst/>
          </a:prstGeom>
          <a:solidFill>
            <a:srgbClr val="FFFFFF"/>
          </a:solidFill>
          <a:ln w="19050">
            <a:solidFill>
              <a:srgbClr val="1F6FB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95728" y="3611880"/>
            <a:ext cx="1737360" cy="320040"/>
          </a:xfrm>
          <a:prstGeom prst="rect">
            <a:avLst/>
          </a:prstGeom>
          <a:noFill/>
        </p:spPr>
        <p:txBody>
          <a:bodyPr wrap="square" anchor="t" lIns="45720" rIns="45720">
            <a:spAutoFit/>
          </a:bodyPr>
          <a:lstStyle/>
          <a:p>
            <a:pPr algn="l"/>
            <a:r>
              <a:rPr sz="1400" b="0">
                <a:solidFill>
                  <a:srgbClr val="1B263B"/>
                </a:solidFill>
                <a:latin typeface="Calibri"/>
              </a:rPr>
              <a:t>LLM (dashed)</a:t>
            </a:r>
          </a:p>
        </p:txBody>
      </p:sp>
      <p:sp>
        <p:nvSpPr>
          <p:cNvPr id="36" name="Rounded Rectangle 35"/>
          <p:cNvSpPr/>
          <p:nvPr/>
        </p:nvSpPr>
        <p:spPr>
          <a:xfrm>
            <a:off x="2011680" y="4069080"/>
            <a:ext cx="320040" cy="228600"/>
          </a:xfrm>
          <a:prstGeom prst="roundRect">
            <a:avLst/>
          </a:prstGeom>
          <a:solidFill>
            <a:srgbClr val="E9ECF1"/>
          </a:solidFill>
          <a:ln w="190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95728" y="4023360"/>
            <a:ext cx="1737360" cy="320040"/>
          </a:xfrm>
          <a:prstGeom prst="rect">
            <a:avLst/>
          </a:prstGeom>
          <a:noFill/>
        </p:spPr>
        <p:txBody>
          <a:bodyPr wrap="square" anchor="t" lIns="45720" rIns="45720">
            <a:spAutoFit/>
          </a:bodyPr>
          <a:lstStyle/>
          <a:p>
            <a:pPr algn="l"/>
            <a:r>
              <a:rPr sz="1400" b="0">
                <a:solidFill>
                  <a:srgbClr val="1B263B"/>
                </a:solidFill>
                <a:latin typeface="Calibri"/>
              </a:rPr>
              <a:t>Human</a:t>
            </a:r>
          </a:p>
        </p:txBody>
      </p:sp>
      <p:sp>
        <p:nvSpPr>
          <p:cNvPr id="38" name="TextBox 37"/>
          <p:cNvSpPr txBox="1"/>
          <p:nvPr/>
        </p:nvSpPr>
        <p:spPr>
          <a:xfrm>
            <a:off x="2011680" y="4434840"/>
            <a:ext cx="2926080" cy="548640"/>
          </a:xfrm>
          <a:prstGeom prst="rect">
            <a:avLst/>
          </a:prstGeom>
          <a:noFill/>
        </p:spPr>
        <p:txBody>
          <a:bodyPr wrap="square" anchor="t" lIns="45720" rIns="45720">
            <a:spAutoFit/>
          </a:bodyPr>
          <a:lstStyle/>
          <a:p>
            <a:pPr algn="l"/>
            <a:r>
              <a:rPr sz="1400" b="0">
                <a:solidFill>
                  <a:srgbClr val="6B7280"/>
                </a:solidFill>
                <a:latin typeface="Calibri"/>
              </a:rPr>
              <a:t>Dashed arrow: fuzzing loop back to inputs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685800"/>
          </a:xfrm>
          <a:prstGeom prst="rect">
            <a:avLst/>
          </a:prstGeom>
          <a:noFill/>
        </p:spPr>
        <p:txBody>
          <a:bodyPr wrap="square" anchor="ctr" lIns="45720" rIns="45720">
            <a:spAutoFit/>
          </a:bodyPr>
          <a:lstStyle/>
          <a:p>
            <a:pPr algn="l"/>
            <a:r>
              <a:rPr sz="3400" b="1">
                <a:solidFill>
                  <a:srgbClr val="1B263B"/>
                </a:solidFill>
                <a:latin typeface="Calibri"/>
              </a:rPr>
              <a:t>Plan: six stages</a:t>
            </a:r>
          </a:p>
        </p:txBody>
      </p:sp>
      <p:sp>
        <p:nvSpPr>
          <p:cNvPr id="3" name="Rectangle 2"/>
          <p:cNvSpPr/>
          <p:nvPr/>
        </p:nvSpPr>
        <p:spPr>
          <a:xfrm>
            <a:off x="685800" y="1051560"/>
            <a:ext cx="822960" cy="54864"/>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00800"/>
            <a:ext cx="10865815" cy="9144"/>
          </a:xfrm>
          <a:prstGeom prst="rect">
            <a:avLst/>
          </a:prstGeom>
          <a:solidFill>
            <a:srgbClr val="C9C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28232"/>
            <a:ext cx="3657600" cy="320040"/>
          </a:xfrm>
          <a:prstGeom prst="rect">
            <a:avLst/>
          </a:prstGeom>
          <a:noFill/>
        </p:spPr>
        <p:txBody>
          <a:bodyPr wrap="square" anchor="t" lIns="45720" rIns="45720">
            <a:spAutoFit/>
          </a:bodyPr>
          <a:lstStyle/>
          <a:p>
            <a:pPr algn="l"/>
            <a:r>
              <a:rPr sz="1200" b="0">
                <a:solidFill>
                  <a:srgbClr val="6B7280"/>
                </a:solidFill>
                <a:latin typeface="Calibri"/>
              </a:rPr>
              <a:t>typediff</a:t>
            </a:r>
          </a:p>
        </p:txBody>
      </p:sp>
      <p:sp>
        <p:nvSpPr>
          <p:cNvPr id="6" name="TextBox 5"/>
          <p:cNvSpPr txBox="1"/>
          <p:nvPr/>
        </p:nvSpPr>
        <p:spPr>
          <a:xfrm>
            <a:off x="10637215" y="6428232"/>
            <a:ext cx="914400" cy="320040"/>
          </a:xfrm>
          <a:prstGeom prst="rect">
            <a:avLst/>
          </a:prstGeom>
          <a:noFill/>
        </p:spPr>
        <p:txBody>
          <a:bodyPr wrap="square" anchor="t" lIns="45720" rIns="45720">
            <a:spAutoFit/>
          </a:bodyPr>
          <a:lstStyle/>
          <a:p>
            <a:pPr algn="r"/>
            <a:r>
              <a:rPr sz="1200" b="0">
                <a:solidFill>
                  <a:srgbClr val="6B7280"/>
                </a:solidFill>
                <a:latin typeface="Calibri"/>
              </a:rPr>
              <a:t>5</a:t>
            </a:r>
          </a:p>
        </p:txBody>
      </p:sp>
      <p:sp>
        <p:nvSpPr>
          <p:cNvPr id="7" name="Pentagon 6"/>
          <p:cNvSpPr/>
          <p:nvPr/>
        </p:nvSpPr>
        <p:spPr>
          <a:xfrm>
            <a:off x="411480" y="1463040"/>
            <a:ext cx="1803349" cy="914400"/>
          </a:xfrm>
          <a:prstGeom prst="homePlate">
            <a:avLst>
              <a:gd name="adj" fmla="val 18000"/>
            </a:avLst>
          </a:prstGeom>
          <a:solidFill>
            <a:srgbClr val="1F6FB5"/>
          </a:solidFill>
          <a:ln w="25400">
            <a:solidFill>
              <a:srgbClr val="1F6FB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400" b="1">
                <a:solidFill>
                  <a:srgbClr val="FFFFFF"/>
                </a:solidFill>
                <a:latin typeface="Calibri"/>
              </a:rPr>
              <a:t>1</a:t>
            </a:r>
          </a:p>
        </p:txBody>
      </p:sp>
      <p:sp>
        <p:nvSpPr>
          <p:cNvPr id="8" name="TextBox 7"/>
          <p:cNvSpPr txBox="1"/>
          <p:nvPr/>
        </p:nvSpPr>
        <p:spPr>
          <a:xfrm>
            <a:off x="411480" y="2514600"/>
            <a:ext cx="1803349" cy="777240"/>
          </a:xfrm>
          <a:prstGeom prst="rect">
            <a:avLst/>
          </a:prstGeom>
          <a:noFill/>
        </p:spPr>
        <p:txBody>
          <a:bodyPr wrap="square" anchor="t" lIns="45720" rIns="45720">
            <a:spAutoFit/>
          </a:bodyPr>
          <a:lstStyle/>
          <a:p>
            <a:pPr algn="l"/>
            <a:r>
              <a:rPr sz="1600" b="1">
                <a:solidFill>
                  <a:srgbClr val="1B263B"/>
                </a:solidFill>
                <a:latin typeface="Calibri"/>
              </a:rPr>
              <a:t>Setup</a:t>
            </a:r>
          </a:p>
        </p:txBody>
      </p:sp>
      <p:sp>
        <p:nvSpPr>
          <p:cNvPr id="9" name="TextBox 8"/>
          <p:cNvSpPr txBox="1"/>
          <p:nvPr/>
        </p:nvSpPr>
        <p:spPr>
          <a:xfrm>
            <a:off x="411480" y="3291840"/>
            <a:ext cx="1803349" cy="1737360"/>
          </a:xfrm>
          <a:prstGeom prst="rect">
            <a:avLst/>
          </a:prstGeom>
          <a:noFill/>
        </p:spPr>
        <p:txBody>
          <a:bodyPr wrap="square" anchor="t" lIns="45720" rIns="45720">
            <a:spAutoFit/>
          </a:bodyPr>
          <a:lstStyle/>
          <a:p>
            <a:pPr algn="l"/>
            <a:r>
              <a:rPr sz="1400" b="0">
                <a:solidFill>
                  <a:srgbClr val="1B263B"/>
                </a:solidFill>
                <a:latin typeface="Calibri"/>
              </a:rPr>
              <a:t>Pinned tools: ty 0.0.84, mypy 2.4.0, pyright. Docs corpus, knowledge-base self-test.</a:t>
            </a:r>
          </a:p>
        </p:txBody>
      </p:sp>
      <p:sp>
        <p:nvSpPr>
          <p:cNvPr id="10" name="Rounded Rectangle 9"/>
          <p:cNvSpPr/>
          <p:nvPr/>
        </p:nvSpPr>
        <p:spPr>
          <a:xfrm>
            <a:off x="457200" y="5029200"/>
            <a:ext cx="1529029" cy="384048"/>
          </a:xfrm>
          <a:prstGeom prst="roundRect">
            <a:avLst>
              <a:gd name="adj" fmla="val 50000"/>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400" b="1">
                <a:solidFill>
                  <a:srgbClr val="FFFFFF"/>
                </a:solidFill>
                <a:latin typeface="Calibri"/>
              </a:rPr>
              <a:t>Done</a:t>
            </a:r>
          </a:p>
        </p:txBody>
      </p:sp>
      <p:sp>
        <p:nvSpPr>
          <p:cNvPr id="11" name="Chevron 10"/>
          <p:cNvSpPr/>
          <p:nvPr/>
        </p:nvSpPr>
        <p:spPr>
          <a:xfrm>
            <a:off x="2324557" y="1463040"/>
            <a:ext cx="1803349" cy="914400"/>
          </a:xfrm>
          <a:prstGeom prst="chevron">
            <a:avLst>
              <a:gd name="adj" fmla="val 18000"/>
            </a:avLst>
          </a:prstGeom>
          <a:solidFill>
            <a:srgbClr val="FFFFFF"/>
          </a:solidFill>
          <a:ln w="25400">
            <a:solidFill>
              <a:srgbClr val="1F6FB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400" b="1">
                <a:solidFill>
                  <a:srgbClr val="1B263B"/>
                </a:solidFill>
                <a:latin typeface="Calibri"/>
              </a:rPr>
              <a:t>2</a:t>
            </a:r>
          </a:p>
        </p:txBody>
      </p:sp>
      <p:sp>
        <p:nvSpPr>
          <p:cNvPr id="12" name="TextBox 11"/>
          <p:cNvSpPr txBox="1"/>
          <p:nvPr/>
        </p:nvSpPr>
        <p:spPr>
          <a:xfrm>
            <a:off x="2324557" y="2514600"/>
            <a:ext cx="1803349" cy="777240"/>
          </a:xfrm>
          <a:prstGeom prst="rect">
            <a:avLst/>
          </a:prstGeom>
          <a:noFill/>
        </p:spPr>
        <p:txBody>
          <a:bodyPr wrap="square" anchor="t" lIns="45720" rIns="45720">
            <a:spAutoFit/>
          </a:bodyPr>
          <a:lstStyle/>
          <a:p>
            <a:pPr algn="l"/>
            <a:r>
              <a:rPr sz="1600" b="1">
                <a:solidFill>
                  <a:srgbClr val="1B263B"/>
                </a:solidFill>
                <a:latin typeface="Calibri"/>
              </a:rPr>
              <a:t>Seed run and triage</a:t>
            </a:r>
          </a:p>
        </p:txBody>
      </p:sp>
      <p:sp>
        <p:nvSpPr>
          <p:cNvPr id="13" name="TextBox 12"/>
          <p:cNvSpPr txBox="1"/>
          <p:nvPr/>
        </p:nvSpPr>
        <p:spPr>
          <a:xfrm>
            <a:off x="2324557" y="3291840"/>
            <a:ext cx="1803349" cy="1737360"/>
          </a:xfrm>
          <a:prstGeom prst="rect">
            <a:avLst/>
          </a:prstGeom>
          <a:noFill/>
        </p:spPr>
        <p:txBody>
          <a:bodyPr wrap="square" anchor="t" lIns="45720" rIns="45720">
            <a:spAutoFit/>
          </a:bodyPr>
          <a:lstStyle/>
          <a:p>
            <a:pPr algn="l"/>
            <a:r>
              <a:rPr sz="1400" b="0">
                <a:solidFill>
                  <a:srgbClr val="1B263B"/>
                </a:solidFill>
                <a:latin typeface="Calibri"/>
              </a:rPr>
              <a:t>Hand-written seeds + 4,849 harvested programs. Group findings into patterns, teach the KB what is noise.</a:t>
            </a:r>
          </a:p>
        </p:txBody>
      </p:sp>
      <p:sp>
        <p:nvSpPr>
          <p:cNvPr id="14" name="Rounded Rectangle 13"/>
          <p:cNvSpPr/>
          <p:nvPr/>
        </p:nvSpPr>
        <p:spPr>
          <a:xfrm>
            <a:off x="2370277" y="5029200"/>
            <a:ext cx="1529029" cy="384048"/>
          </a:xfrm>
          <a:prstGeom prst="roundRect">
            <a:avLst>
              <a:gd name="adj" fmla="val 50000"/>
            </a:avLst>
          </a:prstGeom>
          <a:solidFill>
            <a:srgbClr val="FFFFFF"/>
          </a:solidFill>
          <a:ln w="25400">
            <a:solidFill>
              <a:srgbClr val="1F6FB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400" b="1">
                <a:solidFill>
                  <a:srgbClr val="1F6FB5"/>
                </a:solidFill>
                <a:latin typeface="Calibri"/>
              </a:rPr>
              <a:t>In progress</a:t>
            </a:r>
          </a:p>
        </p:txBody>
      </p:sp>
      <p:sp>
        <p:nvSpPr>
          <p:cNvPr id="15" name="Chevron 14"/>
          <p:cNvSpPr/>
          <p:nvPr/>
        </p:nvSpPr>
        <p:spPr>
          <a:xfrm>
            <a:off x="4237634" y="1463040"/>
            <a:ext cx="1803349" cy="914400"/>
          </a:xfrm>
          <a:prstGeom prst="chevron">
            <a:avLst>
              <a:gd name="adj" fmla="val 18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400" b="1">
                <a:solidFill>
                  <a:srgbClr val="1B263B"/>
                </a:solidFill>
                <a:latin typeface="Calibri"/>
              </a:rPr>
              <a:t>3</a:t>
            </a:r>
          </a:p>
        </p:txBody>
      </p:sp>
      <p:sp>
        <p:nvSpPr>
          <p:cNvPr id="16" name="TextBox 15"/>
          <p:cNvSpPr txBox="1"/>
          <p:nvPr/>
        </p:nvSpPr>
        <p:spPr>
          <a:xfrm>
            <a:off x="4237634" y="2514600"/>
            <a:ext cx="1803349" cy="777240"/>
          </a:xfrm>
          <a:prstGeom prst="rect">
            <a:avLst/>
          </a:prstGeom>
          <a:noFill/>
        </p:spPr>
        <p:txBody>
          <a:bodyPr wrap="square" anchor="t" lIns="45720" rIns="45720">
            <a:spAutoFit/>
          </a:bodyPr>
          <a:lstStyle/>
          <a:p>
            <a:pPr algn="l"/>
            <a:r>
              <a:rPr sz="1600" b="1">
                <a:solidFill>
                  <a:srgbClr val="1B263B"/>
                </a:solidFill>
                <a:latin typeface="Calibri"/>
              </a:rPr>
              <a:t>LLM mutation</a:t>
            </a:r>
          </a:p>
        </p:txBody>
      </p:sp>
      <p:sp>
        <p:nvSpPr>
          <p:cNvPr id="17" name="TextBox 16"/>
          <p:cNvSpPr txBox="1"/>
          <p:nvPr/>
        </p:nvSpPr>
        <p:spPr>
          <a:xfrm>
            <a:off x="4237634" y="3291840"/>
            <a:ext cx="1803349" cy="1737360"/>
          </a:xfrm>
          <a:prstGeom prst="rect">
            <a:avLst/>
          </a:prstGeom>
          <a:noFill/>
        </p:spPr>
        <p:txBody>
          <a:bodyPr wrap="square" anchor="t" lIns="45720" rIns="45720">
            <a:spAutoFit/>
          </a:bodyPr>
          <a:lstStyle/>
          <a:p>
            <a:pPr algn="l"/>
            <a:r>
              <a:rPr sz="1400" b="0">
                <a:solidFill>
                  <a:srgbClr val="1B263B"/>
                </a:solidFill>
                <a:latin typeface="Calibri"/>
              </a:rPr>
              <a:t>Variants of promising hits (feature crossovers), judged deterministically.</a:t>
            </a:r>
          </a:p>
        </p:txBody>
      </p:sp>
      <p:sp>
        <p:nvSpPr>
          <p:cNvPr id="18" name="Rounded Rectangle 17"/>
          <p:cNvSpPr/>
          <p:nvPr/>
        </p:nvSpPr>
        <p:spPr>
          <a:xfrm>
            <a:off x="4283354" y="5029200"/>
            <a:ext cx="1529029" cy="384048"/>
          </a:xfrm>
          <a:prstGeom prst="roundRect">
            <a:avLst>
              <a:gd name="adj" fmla="val 50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400" b="1">
                <a:solidFill>
                  <a:srgbClr val="6B7280"/>
                </a:solidFill>
                <a:latin typeface="Calibri"/>
              </a:rPr>
              <a:t>Upcoming</a:t>
            </a:r>
          </a:p>
        </p:txBody>
      </p:sp>
      <p:sp>
        <p:nvSpPr>
          <p:cNvPr id="19" name="Chevron 18"/>
          <p:cNvSpPr/>
          <p:nvPr/>
        </p:nvSpPr>
        <p:spPr>
          <a:xfrm>
            <a:off x="6150711" y="1463040"/>
            <a:ext cx="1803349" cy="914400"/>
          </a:xfrm>
          <a:prstGeom prst="chevron">
            <a:avLst>
              <a:gd name="adj" fmla="val 18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400" b="1">
                <a:solidFill>
                  <a:srgbClr val="1B263B"/>
                </a:solidFill>
                <a:latin typeface="Calibri"/>
              </a:rPr>
              <a:t>4</a:t>
            </a:r>
          </a:p>
        </p:txBody>
      </p:sp>
      <p:sp>
        <p:nvSpPr>
          <p:cNvPr id="20" name="TextBox 19"/>
          <p:cNvSpPr txBox="1"/>
          <p:nvPr/>
        </p:nvSpPr>
        <p:spPr>
          <a:xfrm>
            <a:off x="6150711" y="2514600"/>
            <a:ext cx="1803349" cy="777240"/>
          </a:xfrm>
          <a:prstGeom prst="rect">
            <a:avLst/>
          </a:prstGeom>
          <a:noFill/>
        </p:spPr>
        <p:txBody>
          <a:bodyPr wrap="square" anchor="t" lIns="45720" rIns="45720">
            <a:spAutoFit/>
          </a:bodyPr>
          <a:lstStyle/>
          <a:p>
            <a:pPr algn="l"/>
            <a:r>
              <a:rPr sz="1600" b="1">
                <a:solidFill>
                  <a:srgbClr val="1B263B"/>
                </a:solidFill>
                <a:latin typeface="Calibri"/>
              </a:rPr>
              <a:t>LLM generation + crash hunting</a:t>
            </a:r>
          </a:p>
        </p:txBody>
      </p:sp>
      <p:sp>
        <p:nvSpPr>
          <p:cNvPr id="21" name="TextBox 20"/>
          <p:cNvSpPr txBox="1"/>
          <p:nvPr/>
        </p:nvSpPr>
        <p:spPr>
          <a:xfrm>
            <a:off x="6150711" y="3291840"/>
            <a:ext cx="1803349" cy="1737360"/>
          </a:xfrm>
          <a:prstGeom prst="rect">
            <a:avLst/>
          </a:prstGeom>
          <a:noFill/>
        </p:spPr>
        <p:txBody>
          <a:bodyPr wrap="square" anchor="t" lIns="45720" rIns="45720">
            <a:spAutoFit/>
          </a:bodyPr>
          <a:lstStyle/>
          <a:p>
            <a:pPr algn="l"/>
            <a:r>
              <a:rPr sz="1400" b="0">
                <a:solidFill>
                  <a:srgbClr val="1B263B"/>
                </a:solidFill>
                <a:latin typeface="Calibri"/>
              </a:rPr>
              <a:t>New programs in under-covered areas: ParamSpec, TypedDict, overloads, recursive aliases.</a:t>
            </a:r>
          </a:p>
        </p:txBody>
      </p:sp>
      <p:sp>
        <p:nvSpPr>
          <p:cNvPr id="22" name="Rounded Rectangle 21"/>
          <p:cNvSpPr/>
          <p:nvPr/>
        </p:nvSpPr>
        <p:spPr>
          <a:xfrm>
            <a:off x="6196431" y="5029200"/>
            <a:ext cx="1529029" cy="384048"/>
          </a:xfrm>
          <a:prstGeom prst="roundRect">
            <a:avLst>
              <a:gd name="adj" fmla="val 50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400" b="1">
                <a:solidFill>
                  <a:srgbClr val="6B7280"/>
                </a:solidFill>
                <a:latin typeface="Calibri"/>
              </a:rPr>
              <a:t>Upcoming</a:t>
            </a:r>
          </a:p>
        </p:txBody>
      </p:sp>
      <p:sp>
        <p:nvSpPr>
          <p:cNvPr id="23" name="Chevron 22"/>
          <p:cNvSpPr/>
          <p:nvPr/>
        </p:nvSpPr>
        <p:spPr>
          <a:xfrm>
            <a:off x="8063788" y="1463040"/>
            <a:ext cx="1803349" cy="914400"/>
          </a:xfrm>
          <a:prstGeom prst="chevron">
            <a:avLst>
              <a:gd name="adj" fmla="val 18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400" b="1">
                <a:solidFill>
                  <a:srgbClr val="1B263B"/>
                </a:solidFill>
                <a:latin typeface="Calibri"/>
              </a:rPr>
              <a:t>5</a:t>
            </a:r>
          </a:p>
        </p:txBody>
      </p:sp>
      <p:sp>
        <p:nvSpPr>
          <p:cNvPr id="24" name="TextBox 23"/>
          <p:cNvSpPr txBox="1"/>
          <p:nvPr/>
        </p:nvSpPr>
        <p:spPr>
          <a:xfrm>
            <a:off x="8063788" y="2514600"/>
            <a:ext cx="1803349" cy="777240"/>
          </a:xfrm>
          <a:prstGeom prst="rect">
            <a:avLst/>
          </a:prstGeom>
          <a:noFill/>
        </p:spPr>
        <p:txBody>
          <a:bodyPr wrap="square" anchor="t" lIns="45720" rIns="45720">
            <a:spAutoFit/>
          </a:bodyPr>
          <a:lstStyle/>
          <a:p>
            <a:pPr algn="l"/>
            <a:r>
              <a:rPr sz="1600" b="1">
                <a:solidFill>
                  <a:srgbClr val="1B263B"/>
                </a:solidFill>
                <a:latin typeface="Calibri"/>
              </a:rPr>
              <a:t>Judging and filing</a:t>
            </a:r>
          </a:p>
        </p:txBody>
      </p:sp>
      <p:sp>
        <p:nvSpPr>
          <p:cNvPr id="25" name="TextBox 24"/>
          <p:cNvSpPr txBox="1"/>
          <p:nvPr/>
        </p:nvSpPr>
        <p:spPr>
          <a:xfrm>
            <a:off x="8063788" y="3291840"/>
            <a:ext cx="1803349" cy="1737360"/>
          </a:xfrm>
          <a:prstGeom prst="rect">
            <a:avLst/>
          </a:prstGeom>
          <a:noFill/>
        </p:spPr>
        <p:txBody>
          <a:bodyPr wrap="square" anchor="t" lIns="45720" rIns="45720">
            <a:spAutoFit/>
          </a:bodyPr>
          <a:lstStyle/>
          <a:p>
            <a:pPr algn="l"/>
            <a:r>
              <a:rPr sz="1400" b="0">
                <a:solidFill>
                  <a:srgbClr val="1B263B"/>
                </a:solidFill>
                <a:latin typeface="Calibri"/>
              </a:rPr>
              <a:t>Spec rule, CPython oracle, duplicate search, minimal repro. One issue per root cause.</a:t>
            </a:r>
          </a:p>
        </p:txBody>
      </p:sp>
      <p:sp>
        <p:nvSpPr>
          <p:cNvPr id="26" name="Rounded Rectangle 25"/>
          <p:cNvSpPr/>
          <p:nvPr/>
        </p:nvSpPr>
        <p:spPr>
          <a:xfrm>
            <a:off x="8109508" y="5029200"/>
            <a:ext cx="1529029" cy="384048"/>
          </a:xfrm>
          <a:prstGeom prst="roundRect">
            <a:avLst>
              <a:gd name="adj" fmla="val 50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400" b="1">
                <a:solidFill>
                  <a:srgbClr val="6B7280"/>
                </a:solidFill>
                <a:latin typeface="Calibri"/>
              </a:rPr>
              <a:t>Upcoming</a:t>
            </a:r>
          </a:p>
        </p:txBody>
      </p:sp>
      <p:sp>
        <p:nvSpPr>
          <p:cNvPr id="27" name="Chevron 26"/>
          <p:cNvSpPr/>
          <p:nvPr/>
        </p:nvSpPr>
        <p:spPr>
          <a:xfrm>
            <a:off x="9976866" y="1463040"/>
            <a:ext cx="1803349" cy="914400"/>
          </a:xfrm>
          <a:prstGeom prst="chevron">
            <a:avLst>
              <a:gd name="adj" fmla="val 18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2400" b="1">
                <a:solidFill>
                  <a:srgbClr val="1B263B"/>
                </a:solidFill>
                <a:latin typeface="Calibri"/>
              </a:rPr>
              <a:t>6</a:t>
            </a:r>
          </a:p>
        </p:txBody>
      </p:sp>
      <p:sp>
        <p:nvSpPr>
          <p:cNvPr id="28" name="TextBox 27"/>
          <p:cNvSpPr txBox="1"/>
          <p:nvPr/>
        </p:nvSpPr>
        <p:spPr>
          <a:xfrm>
            <a:off x="9976866" y="2514600"/>
            <a:ext cx="1803349" cy="777240"/>
          </a:xfrm>
          <a:prstGeom prst="rect">
            <a:avLst/>
          </a:prstGeom>
          <a:noFill/>
        </p:spPr>
        <p:txBody>
          <a:bodyPr wrap="square" anchor="t" lIns="45720" rIns="45720">
            <a:spAutoFit/>
          </a:bodyPr>
          <a:lstStyle/>
          <a:p>
            <a:pPr algn="l"/>
            <a:r>
              <a:rPr sz="1600" b="1">
                <a:solidFill>
                  <a:srgbClr val="1B263B"/>
                </a:solidFill>
                <a:latin typeface="Calibri"/>
              </a:rPr>
              <a:t>Write-up</a:t>
            </a:r>
          </a:p>
        </p:txBody>
      </p:sp>
      <p:sp>
        <p:nvSpPr>
          <p:cNvPr id="29" name="TextBox 28"/>
          <p:cNvSpPr txBox="1"/>
          <p:nvPr/>
        </p:nvSpPr>
        <p:spPr>
          <a:xfrm>
            <a:off x="9976866" y="3291840"/>
            <a:ext cx="1803349" cy="1737360"/>
          </a:xfrm>
          <a:prstGeom prst="rect">
            <a:avLst/>
          </a:prstGeom>
          <a:noFill/>
        </p:spPr>
        <p:txBody>
          <a:bodyPr wrap="square" anchor="t" lIns="45720" rIns="45720">
            <a:spAutoFit/>
          </a:bodyPr>
          <a:lstStyle/>
          <a:p>
            <a:pPr algn="l"/>
            <a:r>
              <a:rPr sz="1400" b="0">
                <a:solidFill>
                  <a:srgbClr val="1B263B"/>
                </a:solidFill>
                <a:latin typeface="Calibri"/>
              </a:rPr>
              <a:t>Results tables, discrepancy dataset, filed issues.</a:t>
            </a:r>
          </a:p>
        </p:txBody>
      </p:sp>
      <p:sp>
        <p:nvSpPr>
          <p:cNvPr id="30" name="Rounded Rectangle 29"/>
          <p:cNvSpPr/>
          <p:nvPr/>
        </p:nvSpPr>
        <p:spPr>
          <a:xfrm>
            <a:off x="10022586" y="5029200"/>
            <a:ext cx="1529029" cy="384048"/>
          </a:xfrm>
          <a:prstGeom prst="roundRect">
            <a:avLst>
              <a:gd name="adj" fmla="val 50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400" b="1">
                <a:solidFill>
                  <a:srgbClr val="6B7280"/>
                </a:solidFill>
                <a:latin typeface="Calibri"/>
              </a:rPr>
              <a:t>Upcoming</a:t>
            </a:r>
          </a:p>
        </p:txBody>
      </p:sp>
      <p:sp>
        <p:nvSpPr>
          <p:cNvPr id="31" name="Rectangle 30"/>
          <p:cNvSpPr/>
          <p:nvPr/>
        </p:nvSpPr>
        <p:spPr>
          <a:xfrm>
            <a:off x="457200" y="5623560"/>
            <a:ext cx="11277295" cy="640080"/>
          </a:xfrm>
          <a:prstGeom prst="rect">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5623560"/>
            <a:ext cx="73152" cy="640080"/>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623560"/>
            <a:ext cx="3576218" cy="640080"/>
          </a:xfrm>
          <a:prstGeom prst="rect">
            <a:avLst/>
          </a:prstGeom>
          <a:noFill/>
        </p:spPr>
        <p:txBody>
          <a:bodyPr wrap="square" anchor="ctr" lIns="45720" rIns="45720">
            <a:spAutoFit/>
          </a:bodyPr>
          <a:lstStyle/>
          <a:p>
            <a:pPr algn="ctr"/>
            <a:r>
              <a:rPr sz="1600" b="1">
                <a:solidFill>
                  <a:srgbClr val="1F6FB5"/>
                </a:solidFill>
                <a:latin typeface="Calibri"/>
              </a:rPr>
              <a:t>Free LLMs generate, never judge</a:t>
            </a:r>
          </a:p>
        </p:txBody>
      </p:sp>
      <p:sp>
        <p:nvSpPr>
          <p:cNvPr id="34" name="TextBox 33"/>
          <p:cNvSpPr txBox="1"/>
          <p:nvPr/>
        </p:nvSpPr>
        <p:spPr>
          <a:xfrm>
            <a:off x="4307738" y="5623560"/>
            <a:ext cx="3576218" cy="640080"/>
          </a:xfrm>
          <a:prstGeom prst="rect">
            <a:avLst/>
          </a:prstGeom>
          <a:noFill/>
        </p:spPr>
        <p:txBody>
          <a:bodyPr wrap="square" anchor="ctr" lIns="45720" rIns="45720">
            <a:spAutoFit/>
          </a:bodyPr>
          <a:lstStyle/>
          <a:p>
            <a:pPr algn="ctr"/>
            <a:r>
              <a:rPr sz="1600" b="1">
                <a:solidFill>
                  <a:srgbClr val="1F6FB5"/>
                </a:solidFill>
                <a:latin typeface="Calibri"/>
              </a:rPr>
              <a:t>Judge patterns, not individual findings</a:t>
            </a:r>
          </a:p>
        </p:txBody>
      </p:sp>
      <p:sp>
        <p:nvSpPr>
          <p:cNvPr id="35" name="TextBox 34"/>
          <p:cNvSpPr txBox="1"/>
          <p:nvPr/>
        </p:nvSpPr>
        <p:spPr>
          <a:xfrm>
            <a:off x="7975396" y="5623560"/>
            <a:ext cx="3576218" cy="640080"/>
          </a:xfrm>
          <a:prstGeom prst="rect">
            <a:avLst/>
          </a:prstGeom>
          <a:noFill/>
        </p:spPr>
        <p:txBody>
          <a:bodyPr wrap="square" anchor="ctr" lIns="45720" rIns="45720">
            <a:spAutoFit/>
          </a:bodyPr>
          <a:lstStyle/>
          <a:p>
            <a:pPr algn="ctr"/>
            <a:r>
              <a:rPr sz="1600" b="1">
                <a:solidFill>
                  <a:srgbClr val="1F6FB5"/>
                </a:solidFill>
                <a:latin typeface="Calibri"/>
              </a:rPr>
              <a:t>Search trackers before filing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685800"/>
          </a:xfrm>
          <a:prstGeom prst="rect">
            <a:avLst/>
          </a:prstGeom>
          <a:noFill/>
        </p:spPr>
        <p:txBody>
          <a:bodyPr wrap="square" anchor="ctr" lIns="45720" rIns="45720">
            <a:spAutoFit/>
          </a:bodyPr>
          <a:lstStyle/>
          <a:p>
            <a:pPr algn="l"/>
            <a:r>
              <a:rPr sz="3400" b="1">
                <a:solidFill>
                  <a:srgbClr val="1B263B"/>
                </a:solidFill>
                <a:latin typeface="Calibri"/>
              </a:rPr>
              <a:t>Updates: what is done so far</a:t>
            </a:r>
          </a:p>
        </p:txBody>
      </p:sp>
      <p:sp>
        <p:nvSpPr>
          <p:cNvPr id="3" name="Rectangle 2"/>
          <p:cNvSpPr/>
          <p:nvPr/>
        </p:nvSpPr>
        <p:spPr>
          <a:xfrm>
            <a:off x="685800" y="1051560"/>
            <a:ext cx="822960" cy="54864"/>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00800"/>
            <a:ext cx="10865815" cy="9144"/>
          </a:xfrm>
          <a:prstGeom prst="rect">
            <a:avLst/>
          </a:prstGeom>
          <a:solidFill>
            <a:srgbClr val="C9C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28232"/>
            <a:ext cx="3657600" cy="320040"/>
          </a:xfrm>
          <a:prstGeom prst="rect">
            <a:avLst/>
          </a:prstGeom>
          <a:noFill/>
        </p:spPr>
        <p:txBody>
          <a:bodyPr wrap="square" anchor="t" lIns="45720" rIns="45720">
            <a:spAutoFit/>
          </a:bodyPr>
          <a:lstStyle/>
          <a:p>
            <a:pPr algn="l"/>
            <a:r>
              <a:rPr sz="1200" b="0">
                <a:solidFill>
                  <a:srgbClr val="6B7280"/>
                </a:solidFill>
                <a:latin typeface="Calibri"/>
              </a:rPr>
              <a:t>typediff</a:t>
            </a:r>
          </a:p>
        </p:txBody>
      </p:sp>
      <p:sp>
        <p:nvSpPr>
          <p:cNvPr id="6" name="TextBox 5"/>
          <p:cNvSpPr txBox="1"/>
          <p:nvPr/>
        </p:nvSpPr>
        <p:spPr>
          <a:xfrm>
            <a:off x="10637215" y="6428232"/>
            <a:ext cx="914400" cy="320040"/>
          </a:xfrm>
          <a:prstGeom prst="rect">
            <a:avLst/>
          </a:prstGeom>
          <a:noFill/>
        </p:spPr>
        <p:txBody>
          <a:bodyPr wrap="square" anchor="t" lIns="45720" rIns="45720">
            <a:spAutoFit/>
          </a:bodyPr>
          <a:lstStyle/>
          <a:p>
            <a:pPr algn="r"/>
            <a:r>
              <a:rPr sz="1200" b="0">
                <a:solidFill>
                  <a:srgbClr val="6B7280"/>
                </a:solidFill>
                <a:latin typeface="Calibri"/>
              </a:rPr>
              <a:t>6</a:t>
            </a:r>
          </a:p>
        </p:txBody>
      </p:sp>
      <p:sp>
        <p:nvSpPr>
          <p:cNvPr id="7" name="TextBox 6"/>
          <p:cNvSpPr txBox="1"/>
          <p:nvPr/>
        </p:nvSpPr>
        <p:spPr>
          <a:xfrm>
            <a:off x="640080" y="1325880"/>
            <a:ext cx="7498079" cy="4937760"/>
          </a:xfrm>
          <a:prstGeom prst="rect">
            <a:avLst/>
          </a:prstGeom>
          <a:noFill/>
        </p:spPr>
        <p:txBody>
          <a:bodyPr wrap="square">
            <a:spAutoFit/>
          </a:bodyPr>
          <a:lstStyle/>
          <a:p>
            <a:r>
              <a:rPr sz="1700" b="1">
                <a:solidFill>
                  <a:srgbClr val="1F6FB5"/>
                </a:solidFill>
                <a:latin typeface="Calibri"/>
              </a:rPr>
              <a:t>▪  </a:t>
            </a:r>
            <a:r>
              <a:rPr sz="1700" b="1">
                <a:solidFill>
                  <a:srgbClr val="1B263B"/>
                </a:solidFill>
                <a:latin typeface="Calibri"/>
              </a:rPr>
              <a:t>Pipeline built end to end: </a:t>
            </a:r>
            <a:r>
              <a:rPr sz="1700" b="0">
                <a:solidFill>
                  <a:srgbClr val="1B263B"/>
                </a:solidFill>
                <a:latin typeface="Calibri"/>
              </a:rPr>
              <a:t>runs mypy, ty, pyright and CPython, normalises output, detects disagreements, auto-dismisses known ones with a knowledge base, groups the rest into patterns.</a:t>
            </a:r>
          </a:p>
          <a:p>
            <a:pPr>
              <a:spcBef>
                <a:spcPts val="900"/>
              </a:spcBef>
            </a:pPr>
            <a:r>
              <a:rPr sz="1700" b="1">
                <a:solidFill>
                  <a:srgbClr val="1F6FB5"/>
                </a:solidFill>
                <a:latin typeface="Calibri"/>
              </a:rPr>
              <a:t>▪  </a:t>
            </a:r>
            <a:r>
              <a:rPr sz="1700" b="1">
                <a:solidFill>
                  <a:srgbClr val="1B263B"/>
                </a:solidFill>
                <a:latin typeface="Calibri"/>
              </a:rPr>
              <a:t>First probe: </a:t>
            </a:r>
            <a:r>
              <a:rPr sz="1700" b="0">
                <a:solidFill>
                  <a:srgbClr val="1B263B"/>
                </a:solidFill>
                <a:latin typeface="Calibri"/>
              </a:rPr>
              <a:t>a hand-written Self seed led to our first report (ty#4656). Closed as intended; a related display bug is ty#4673. Lesson: argue the accused tool's side before filing.</a:t>
            </a:r>
          </a:p>
          <a:p>
            <a:pPr>
              <a:spcBef>
                <a:spcPts val="900"/>
              </a:spcBef>
            </a:pPr>
            <a:r>
              <a:rPr sz="1700" b="1">
                <a:solidFill>
                  <a:srgbClr val="1F6FB5"/>
                </a:solidFill>
                <a:latin typeface="Calibri"/>
              </a:rPr>
              <a:t>▪  </a:t>
            </a:r>
            <a:r>
              <a:rPr sz="1700" b="1">
                <a:solidFill>
                  <a:srgbClr val="1B263B"/>
                </a:solidFill>
                <a:latin typeface="Calibri"/>
              </a:rPr>
              <a:t>Corpus: </a:t>
            </a:r>
            <a:r>
              <a:rPr sz="1700" b="0">
                <a:solidFill>
                  <a:srgbClr val="1B263B"/>
                </a:solidFill>
                <a:latin typeface="Calibri"/>
              </a:rPr>
              <a:t>27 hand-written seeds plus 4,849 harvested programs (typing conformance suite, ty mdtests, mypy tests).</a:t>
            </a:r>
          </a:p>
          <a:p>
            <a:pPr>
              <a:spcBef>
                <a:spcPts val="900"/>
              </a:spcBef>
            </a:pPr>
            <a:r>
              <a:rPr sz="1700" b="1">
                <a:solidFill>
                  <a:srgbClr val="1F6FB5"/>
                </a:solidFill>
                <a:latin typeface="Calibri"/>
              </a:rPr>
              <a:t>▪  </a:t>
            </a:r>
            <a:r>
              <a:rPr sz="1700" b="1">
                <a:solidFill>
                  <a:srgbClr val="1B263B"/>
                </a:solidFill>
                <a:latin typeface="Calibri"/>
              </a:rPr>
              <a:t>First full run: </a:t>
            </a:r>
            <a:r>
              <a:rPr sz="1700" b="0">
                <a:solidFill>
                  <a:srgbClr val="1B263B"/>
                </a:solidFill>
                <a:latin typeface="Calibri"/>
              </a:rPr>
              <a:t>7,480 findings in 618 patterns, all deterministic, no LLM.</a:t>
            </a:r>
          </a:p>
          <a:p>
            <a:pPr>
              <a:spcBef>
                <a:spcPts val="900"/>
              </a:spcBef>
            </a:pPr>
            <a:r>
              <a:rPr sz="1700" b="1">
                <a:solidFill>
                  <a:srgbClr val="1F6FB5"/>
                </a:solidFill>
                <a:latin typeface="Calibri"/>
              </a:rPr>
              <a:t>▪  </a:t>
            </a:r>
            <a:r>
              <a:rPr sz="1700" b="1">
                <a:solidFill>
                  <a:srgbClr val="1B263B"/>
                </a:solidFill>
                <a:latin typeface="Calibri"/>
              </a:rPr>
              <a:t>Triage of top 5 patterns: </a:t>
            </a:r>
            <a:r>
              <a:rPr sz="1700" b="0">
                <a:solidFill>
                  <a:srgbClr val="1B263B"/>
                </a:solidFill>
                <a:latin typeface="Calibri"/>
              </a:rPr>
              <a:t>all harness noise or design differences, no new bug yet. It showed our 'strong bug evidence' flag was misleading.</a:t>
            </a:r>
          </a:p>
          <a:p>
            <a:pPr>
              <a:spcBef>
                <a:spcPts val="900"/>
              </a:spcBef>
            </a:pPr>
            <a:r>
              <a:rPr sz="1700" b="1">
                <a:solidFill>
                  <a:srgbClr val="1F6FB5"/>
                </a:solidFill>
                <a:latin typeface="Calibri"/>
              </a:rPr>
              <a:t>▪  </a:t>
            </a:r>
            <a:r>
              <a:rPr sz="1700" b="1">
                <a:solidFill>
                  <a:srgbClr val="1B263B"/>
                </a:solidFill>
                <a:latin typeface="Calibri"/>
              </a:rPr>
              <a:t>Pipeline fixes: </a:t>
            </a:r>
            <a:r>
              <a:rPr sz="1700" b="0">
                <a:solidFill>
                  <a:srgbClr val="1B263B"/>
                </a:solidFill>
                <a:latin typeface="Calibri"/>
              </a:rPr>
              <a:t>NameError no longer blames the silent tool, stub-function None ignored, runtime-miss anchored on full statement, 4 scoped KB entries, harvest provenance, 1,423 other-version mdtest snippets skipped. 81 tests pass.</a:t>
            </a:r>
          </a:p>
          <a:p>
            <a:pPr>
              <a:spcBef>
                <a:spcPts val="900"/>
              </a:spcBef>
            </a:pPr>
            <a:r>
              <a:rPr sz="1700" b="1">
                <a:solidFill>
                  <a:srgbClr val="1F6FB5"/>
                </a:solidFill>
                <a:latin typeface="Calibri"/>
              </a:rPr>
              <a:t>▪  </a:t>
            </a:r>
            <a:r>
              <a:rPr sz="1700" b="1">
                <a:solidFill>
                  <a:srgbClr val="1B263B"/>
                </a:solidFill>
                <a:latin typeface="Calibri"/>
              </a:rPr>
              <a:t>In progress: </a:t>
            </a:r>
            <a:r>
              <a:rPr sz="1700" b="0">
                <a:solidFill>
                  <a:srgbClr val="1B263B"/>
                </a:solidFill>
                <a:latin typeface="Calibri"/>
              </a:rPr>
              <a:t>re-run on the fixed pipeline.</a:t>
            </a:r>
          </a:p>
        </p:txBody>
      </p:sp>
      <p:sp>
        <p:nvSpPr>
          <p:cNvPr id="8" name="Rectangle 7"/>
          <p:cNvSpPr/>
          <p:nvPr/>
        </p:nvSpPr>
        <p:spPr>
          <a:xfrm>
            <a:off x="8503920" y="1600200"/>
            <a:ext cx="3063240" cy="914400"/>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2400" b="1">
                <a:solidFill>
                  <a:srgbClr val="FFFFFF"/>
                </a:solidFill>
                <a:latin typeface="Calibri"/>
              </a:rPr>
              <a:t>7,480</a:t>
            </a:r>
          </a:p>
          <a:p>
            <a:pPr algn="ctr"/>
            <a:r>
              <a:rPr sz="1400" b="0">
                <a:solidFill>
                  <a:srgbClr val="FFFFFF"/>
                </a:solidFill>
                <a:latin typeface="Calibri"/>
              </a:rPr>
              <a:t>findings</a:t>
            </a:r>
          </a:p>
        </p:txBody>
      </p:sp>
      <p:sp>
        <p:nvSpPr>
          <p:cNvPr id="9" name="Rectangle 8"/>
          <p:cNvSpPr/>
          <p:nvPr/>
        </p:nvSpPr>
        <p:spPr>
          <a:xfrm>
            <a:off x="8810244" y="2697480"/>
            <a:ext cx="2450592" cy="914400"/>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2400" b="1">
                <a:solidFill>
                  <a:srgbClr val="FFFFFF"/>
                </a:solidFill>
                <a:latin typeface="Calibri"/>
              </a:rPr>
              <a:t>618</a:t>
            </a:r>
          </a:p>
          <a:p>
            <a:pPr algn="ctr"/>
            <a:r>
              <a:rPr sz="1400" b="0">
                <a:solidFill>
                  <a:srgbClr val="FFFFFF"/>
                </a:solidFill>
                <a:latin typeface="Calibri"/>
              </a:rPr>
              <a:t>patterns</a:t>
            </a:r>
          </a:p>
        </p:txBody>
      </p:sp>
      <p:sp>
        <p:nvSpPr>
          <p:cNvPr id="10" name="Rectangle 9"/>
          <p:cNvSpPr/>
          <p:nvPr/>
        </p:nvSpPr>
        <p:spPr>
          <a:xfrm>
            <a:off x="9085935" y="3794760"/>
            <a:ext cx="1899208" cy="914400"/>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2400" b="1">
                <a:solidFill>
                  <a:srgbClr val="FFFFFF"/>
                </a:solidFill>
                <a:latin typeface="Calibri"/>
              </a:rPr>
              <a:t>5</a:t>
            </a:r>
          </a:p>
          <a:p>
            <a:pPr algn="ctr"/>
            <a:r>
              <a:rPr sz="1400" b="0">
                <a:solidFill>
                  <a:srgbClr val="FFFFFF"/>
                </a:solidFill>
                <a:latin typeface="Calibri"/>
              </a:rPr>
              <a:t>top patterns triaged</a:t>
            </a:r>
          </a:p>
        </p:txBody>
      </p:sp>
      <p:sp>
        <p:nvSpPr>
          <p:cNvPr id="11" name="Rectangle 10"/>
          <p:cNvSpPr/>
          <p:nvPr/>
        </p:nvSpPr>
        <p:spPr>
          <a:xfrm>
            <a:off x="9330994" y="4892040"/>
            <a:ext cx="1409090" cy="914400"/>
          </a:xfrm>
          <a:prstGeom prst="rect">
            <a:avLst/>
          </a:prstGeom>
          <a:solidFill>
            <a:srgbClr val="1B26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2400" b="1">
                <a:solidFill>
                  <a:srgbClr val="FFFFFF"/>
                </a:solidFill>
                <a:latin typeface="Calibri"/>
              </a:rPr>
              <a:t>0</a:t>
            </a:r>
          </a:p>
          <a:p>
            <a:pPr algn="ctr"/>
            <a:r>
              <a:rPr sz="1400" b="0">
                <a:solidFill>
                  <a:srgbClr val="FFFFFF"/>
                </a:solidFill>
                <a:latin typeface="Calibri"/>
              </a:rPr>
              <a:t>confirmed bugs yet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11535" cy="685800"/>
          </a:xfrm>
          <a:prstGeom prst="rect">
            <a:avLst/>
          </a:prstGeom>
          <a:noFill/>
        </p:spPr>
        <p:txBody>
          <a:bodyPr wrap="square" anchor="ctr" lIns="45720" rIns="45720">
            <a:spAutoFit/>
          </a:bodyPr>
          <a:lstStyle/>
          <a:p>
            <a:pPr algn="l"/>
            <a:r>
              <a:rPr sz="3400" b="1">
                <a:solidFill>
                  <a:srgbClr val="1B263B"/>
                </a:solidFill>
                <a:latin typeface="Calibri"/>
              </a:rPr>
              <a:t>Expected outcomes</a:t>
            </a:r>
          </a:p>
        </p:txBody>
      </p:sp>
      <p:sp>
        <p:nvSpPr>
          <p:cNvPr id="3" name="Rectangle 2"/>
          <p:cNvSpPr/>
          <p:nvPr/>
        </p:nvSpPr>
        <p:spPr>
          <a:xfrm>
            <a:off x="685800" y="1051560"/>
            <a:ext cx="822960" cy="54864"/>
          </a:xfrm>
          <a:prstGeom prst="rect">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400800"/>
            <a:ext cx="10865815" cy="9144"/>
          </a:xfrm>
          <a:prstGeom prst="rect">
            <a:avLst/>
          </a:prstGeom>
          <a:solidFill>
            <a:srgbClr val="C9C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28232"/>
            <a:ext cx="3657600" cy="320040"/>
          </a:xfrm>
          <a:prstGeom prst="rect">
            <a:avLst/>
          </a:prstGeom>
          <a:noFill/>
        </p:spPr>
        <p:txBody>
          <a:bodyPr wrap="square" anchor="t" lIns="45720" rIns="45720">
            <a:spAutoFit/>
          </a:bodyPr>
          <a:lstStyle/>
          <a:p>
            <a:pPr algn="l"/>
            <a:r>
              <a:rPr sz="1200" b="0">
                <a:solidFill>
                  <a:srgbClr val="6B7280"/>
                </a:solidFill>
                <a:latin typeface="Calibri"/>
              </a:rPr>
              <a:t>typediff</a:t>
            </a:r>
          </a:p>
        </p:txBody>
      </p:sp>
      <p:sp>
        <p:nvSpPr>
          <p:cNvPr id="6" name="TextBox 5"/>
          <p:cNvSpPr txBox="1"/>
          <p:nvPr/>
        </p:nvSpPr>
        <p:spPr>
          <a:xfrm>
            <a:off x="10637215" y="6428232"/>
            <a:ext cx="914400" cy="320040"/>
          </a:xfrm>
          <a:prstGeom prst="rect">
            <a:avLst/>
          </a:prstGeom>
          <a:noFill/>
        </p:spPr>
        <p:txBody>
          <a:bodyPr wrap="square" anchor="t" lIns="45720" rIns="45720">
            <a:spAutoFit/>
          </a:bodyPr>
          <a:lstStyle/>
          <a:p>
            <a:pPr algn="r"/>
            <a:r>
              <a:rPr sz="1200" b="0">
                <a:solidFill>
                  <a:srgbClr val="6B7280"/>
                </a:solidFill>
                <a:latin typeface="Calibri"/>
              </a:rPr>
              <a:t>7</a:t>
            </a:r>
          </a:p>
        </p:txBody>
      </p:sp>
      <p:sp>
        <p:nvSpPr>
          <p:cNvPr id="7" name="Oval 6"/>
          <p:cNvSpPr/>
          <p:nvPr/>
        </p:nvSpPr>
        <p:spPr>
          <a:xfrm>
            <a:off x="685800" y="1600200"/>
            <a:ext cx="640080" cy="640080"/>
          </a:xfrm>
          <a:prstGeom prst="ellipse">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a:solidFill>
                  <a:srgbClr val="FFFFFF"/>
                </a:solidFill>
                <a:latin typeface="Calibri"/>
              </a:rPr>
              <a:t>1</a:t>
            </a:r>
          </a:p>
        </p:txBody>
      </p:sp>
      <p:sp>
        <p:nvSpPr>
          <p:cNvPr id="8" name="TextBox 7"/>
          <p:cNvSpPr txBox="1"/>
          <p:nvPr/>
        </p:nvSpPr>
        <p:spPr>
          <a:xfrm>
            <a:off x="1645920" y="1463040"/>
            <a:ext cx="3017520" cy="914400"/>
          </a:xfrm>
          <a:prstGeom prst="rect">
            <a:avLst/>
          </a:prstGeom>
          <a:noFill/>
        </p:spPr>
        <p:txBody>
          <a:bodyPr wrap="square" anchor="ctr" lIns="45720" rIns="45720">
            <a:spAutoFit/>
          </a:bodyPr>
          <a:lstStyle/>
          <a:p>
            <a:pPr algn="l"/>
            <a:r>
              <a:rPr sz="2400" b="1">
                <a:solidFill>
                  <a:srgbClr val="1B263B"/>
                </a:solidFill>
                <a:latin typeface="Calibri"/>
              </a:rPr>
              <a:t>New, confirmed bugs</a:t>
            </a:r>
          </a:p>
        </p:txBody>
      </p:sp>
      <p:sp>
        <p:nvSpPr>
          <p:cNvPr id="9" name="TextBox 8"/>
          <p:cNvSpPr txBox="1"/>
          <p:nvPr/>
        </p:nvSpPr>
        <p:spPr>
          <a:xfrm>
            <a:off x="4754880" y="1463040"/>
            <a:ext cx="6796735" cy="914400"/>
          </a:xfrm>
          <a:prstGeom prst="rect">
            <a:avLst/>
          </a:prstGeom>
          <a:noFill/>
        </p:spPr>
        <p:txBody>
          <a:bodyPr wrap="square" anchor="ctr" lIns="45720" rIns="45720">
            <a:spAutoFit/>
          </a:bodyPr>
          <a:lstStyle/>
          <a:p>
            <a:pPr algn="l"/>
            <a:r>
              <a:rPr sz="1800" b="0">
                <a:solidFill>
                  <a:srgbClr val="1B263B"/>
                </a:solidFill>
                <a:latin typeface="Calibri"/>
              </a:rPr>
              <a:t>Reportable bugs in ty (and mypy): minimal repros filed upstream with spec references, checked against the trackers for duplicates.</a:t>
            </a:r>
          </a:p>
        </p:txBody>
      </p:sp>
      <p:sp>
        <p:nvSpPr>
          <p:cNvPr id="10" name="Oval 9"/>
          <p:cNvSpPr/>
          <p:nvPr/>
        </p:nvSpPr>
        <p:spPr>
          <a:xfrm>
            <a:off x="685800" y="2788920"/>
            <a:ext cx="640080" cy="640080"/>
          </a:xfrm>
          <a:prstGeom prst="ellipse">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a:solidFill>
                  <a:srgbClr val="FFFFFF"/>
                </a:solidFill>
                <a:latin typeface="Calibri"/>
              </a:rPr>
              <a:t>2</a:t>
            </a:r>
          </a:p>
        </p:txBody>
      </p:sp>
      <p:sp>
        <p:nvSpPr>
          <p:cNvPr id="11" name="TextBox 10"/>
          <p:cNvSpPr txBox="1"/>
          <p:nvPr/>
        </p:nvSpPr>
        <p:spPr>
          <a:xfrm>
            <a:off x="1645920" y="2651760"/>
            <a:ext cx="3017520" cy="914400"/>
          </a:xfrm>
          <a:prstGeom prst="rect">
            <a:avLst/>
          </a:prstGeom>
          <a:noFill/>
        </p:spPr>
        <p:txBody>
          <a:bodyPr wrap="square" anchor="ctr" lIns="45720" rIns="45720">
            <a:spAutoFit/>
          </a:bodyPr>
          <a:lstStyle/>
          <a:p>
            <a:pPr algn="l"/>
            <a:r>
              <a:rPr sz="2400" b="1">
                <a:solidFill>
                  <a:srgbClr val="1B263B"/>
                </a:solidFill>
                <a:latin typeface="Calibri"/>
              </a:rPr>
              <a:t>A discrepancy dataset</a:t>
            </a:r>
          </a:p>
        </p:txBody>
      </p:sp>
      <p:sp>
        <p:nvSpPr>
          <p:cNvPr id="12" name="TextBox 11"/>
          <p:cNvSpPr txBox="1"/>
          <p:nvPr/>
        </p:nvSpPr>
        <p:spPr>
          <a:xfrm>
            <a:off x="4754880" y="2651760"/>
            <a:ext cx="6796735" cy="914400"/>
          </a:xfrm>
          <a:prstGeom prst="rect">
            <a:avLst/>
          </a:prstGeom>
          <a:noFill/>
        </p:spPr>
        <p:txBody>
          <a:bodyPr wrap="square" anchor="ctr" lIns="45720" rIns="45720">
            <a:spAutoFit/>
          </a:bodyPr>
          <a:lstStyle/>
          <a:p>
            <a:pPr algn="l"/>
            <a:r>
              <a:rPr sz="1800" b="0">
                <a:solidFill>
                  <a:srgbClr val="1B263B"/>
                </a:solidFill>
                <a:latin typeface="Calibri"/>
              </a:rPr>
              <a:t>Disagreements classified as real bug, intended, known or harness noise, with evidence, reusable by others.</a:t>
            </a:r>
          </a:p>
        </p:txBody>
      </p:sp>
      <p:sp>
        <p:nvSpPr>
          <p:cNvPr id="13" name="Oval 12"/>
          <p:cNvSpPr/>
          <p:nvPr/>
        </p:nvSpPr>
        <p:spPr>
          <a:xfrm>
            <a:off x="685800" y="3977640"/>
            <a:ext cx="640080" cy="640080"/>
          </a:xfrm>
          <a:prstGeom prst="ellipse">
            <a:avLst/>
          </a:prstGeom>
          <a:solidFill>
            <a:srgbClr val="1F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a:solidFill>
                  <a:srgbClr val="FFFFFF"/>
                </a:solidFill>
                <a:latin typeface="Calibri"/>
              </a:rPr>
              <a:t>3</a:t>
            </a:r>
          </a:p>
        </p:txBody>
      </p:sp>
      <p:sp>
        <p:nvSpPr>
          <p:cNvPr id="14" name="TextBox 13"/>
          <p:cNvSpPr txBox="1"/>
          <p:nvPr/>
        </p:nvSpPr>
        <p:spPr>
          <a:xfrm>
            <a:off x="1645920" y="3840480"/>
            <a:ext cx="3017520" cy="914400"/>
          </a:xfrm>
          <a:prstGeom prst="rect">
            <a:avLst/>
          </a:prstGeom>
          <a:noFill/>
        </p:spPr>
        <p:txBody>
          <a:bodyPr wrap="square" anchor="ctr" lIns="45720" rIns="45720">
            <a:spAutoFit/>
          </a:bodyPr>
          <a:lstStyle/>
          <a:p>
            <a:pPr algn="l"/>
            <a:r>
              <a:rPr sz="2400" b="1">
                <a:solidFill>
                  <a:srgbClr val="1B263B"/>
                </a:solidFill>
                <a:latin typeface="Calibri"/>
              </a:rPr>
              <a:t>A reusable pipeline</a:t>
            </a:r>
          </a:p>
        </p:txBody>
      </p:sp>
      <p:sp>
        <p:nvSpPr>
          <p:cNvPr id="15" name="TextBox 14"/>
          <p:cNvSpPr txBox="1"/>
          <p:nvPr/>
        </p:nvSpPr>
        <p:spPr>
          <a:xfrm>
            <a:off x="4754880" y="3840480"/>
            <a:ext cx="6796735" cy="914400"/>
          </a:xfrm>
          <a:prstGeom prst="rect">
            <a:avLst/>
          </a:prstGeom>
          <a:noFill/>
        </p:spPr>
        <p:txBody>
          <a:bodyPr wrap="square" anchor="ctr" lIns="45720" rIns="45720">
            <a:spAutoFit/>
          </a:bodyPr>
          <a:lstStyle/>
          <a:p>
            <a:pPr algn="l"/>
            <a:r>
              <a:rPr sz="1800" b="0">
                <a:solidFill>
                  <a:srgbClr val="1B263B"/>
                </a:solidFill>
                <a:latin typeface="Calibri"/>
              </a:rPr>
              <a:t>Knowledge base and triage discard known differences cheaply, so humans review only real candidates. Funnel numbers: programs, disagreements, candidates, confirmed, filed.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